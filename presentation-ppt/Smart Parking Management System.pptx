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Arimo" panose="020B0604020202020204" pitchFamily="34" charset="0"/>
      <p:regular r:id="rId15"/>
      <p:bold r:id="rId16"/>
      <p:italic r:id="rId17"/>
      <p:boldItalic r:id="rId18"/>
    </p:embeddedFont>
    <p:embeddedFont>
      <p:font typeface="Montserrat" pitchFamily="2" charset="77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fe9581bd3_0_3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g3dfe9581bd3_0_3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fe9581bd3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g3dfe9581bd3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dfe9581bd3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g3dfe9581bd3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dfe9581bd3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g3dfe9581bd3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2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2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05276" y="2018704"/>
            <a:ext cx="11581447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+mj-lt"/>
                <a:ea typeface="Montserrat"/>
                <a:cs typeface="Montserrat"/>
                <a:sym typeface="Montserrat"/>
              </a:rPr>
              <a:t>SMART PARKING</a:t>
            </a:r>
            <a:endParaRPr dirty="0">
              <a:latin typeface="+mj-lt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581025" y="2390179"/>
            <a:ext cx="1102995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E5FF"/>
                </a:solidFill>
                <a:latin typeface="Arimo"/>
                <a:ea typeface="Arimo"/>
                <a:cs typeface="Arimo"/>
                <a:sym typeface="Arimo"/>
              </a:rPr>
              <a:t>Μια Web Εφαρμογή IoT Πραγματικού Χρόνου για την Αστική Στάθμευση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286000" y="3163490"/>
            <a:ext cx="7620000" cy="1675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Το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σύστημ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α πα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ρ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α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κολουθεί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τη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δι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α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θεσιμότητ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α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των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θέσεων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στάθμευσης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σε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π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ρ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α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γμ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α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τικό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χρόνο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χρησιμο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π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οιώντ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α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ς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α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ισθητήρες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IoT (MQTT), απ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οθηκεύει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δεδομέν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α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στην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PostgreSQL,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χρησιμο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π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οιεί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Redis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γι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α π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ροσωρινή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μνήμη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κ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α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ι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ενημερώνει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τη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διε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πα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φή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React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μέσω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WebSockets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.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Υ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π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οστηρίζοντ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α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ι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: </a:t>
            </a:r>
            <a:r>
              <a:rPr lang="en-US" sz="1650" b="1" i="0" u="none" strike="noStrike" cap="none" dirty="0" err="1">
                <a:solidFill>
                  <a:srgbClr val="00E5FF"/>
                </a:solidFill>
                <a:latin typeface="Arimo"/>
                <a:ea typeface="Arimo"/>
                <a:cs typeface="Arimo"/>
                <a:sym typeface="Arimo"/>
              </a:rPr>
              <a:t>Αθήν</a:t>
            </a:r>
            <a:r>
              <a:rPr lang="en-US" sz="1650" b="1" i="0" u="none" strike="noStrike" cap="none" dirty="0">
                <a:solidFill>
                  <a:srgbClr val="00E5FF"/>
                </a:solidFill>
                <a:latin typeface="Arimo"/>
                <a:ea typeface="Arimo"/>
                <a:cs typeface="Arimo"/>
                <a:sym typeface="Arimo"/>
              </a:rPr>
              <a:t>α </a:t>
            </a:r>
            <a:r>
              <a:rPr lang="en-US" sz="1650" b="1" i="0" u="none" strike="noStrike" cap="none" dirty="0" err="1">
                <a:solidFill>
                  <a:srgbClr val="00E5FF"/>
                </a:solidFill>
                <a:latin typeface="Arimo"/>
                <a:ea typeface="Arimo"/>
                <a:cs typeface="Arimo"/>
                <a:sym typeface="Arimo"/>
              </a:rPr>
              <a:t>κ</a:t>
            </a:r>
            <a:r>
              <a:rPr lang="en-US" sz="1650" b="1" i="0" u="none" strike="noStrike" cap="none" dirty="0">
                <a:solidFill>
                  <a:srgbClr val="00E5FF"/>
                </a:solidFill>
                <a:latin typeface="Arimo"/>
                <a:ea typeface="Arimo"/>
                <a:cs typeface="Arimo"/>
                <a:sym typeface="Arimo"/>
              </a:rPr>
              <a:t>α</a:t>
            </a:r>
            <a:r>
              <a:rPr lang="en-US" sz="1650" b="1" i="0" u="none" strike="noStrike" cap="none" dirty="0" err="1">
                <a:solidFill>
                  <a:srgbClr val="00E5FF"/>
                </a:solidFill>
                <a:latin typeface="Arimo"/>
                <a:ea typeface="Arimo"/>
                <a:cs typeface="Arimo"/>
                <a:sym typeface="Arimo"/>
              </a:rPr>
              <a:t>ι</a:t>
            </a:r>
            <a:r>
              <a:rPr lang="en-US" sz="1650" b="1" i="0" u="none" strike="noStrike" cap="none" dirty="0">
                <a:solidFill>
                  <a:srgbClr val="00E5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650" b="1" i="0" u="none" strike="noStrike" cap="none" dirty="0" err="1">
                <a:solidFill>
                  <a:srgbClr val="00E5FF"/>
                </a:solidFill>
                <a:latin typeface="Arimo"/>
                <a:ea typeface="Arimo"/>
                <a:cs typeface="Arimo"/>
                <a:sym typeface="Arimo"/>
              </a:rPr>
              <a:t>Λάρισ</a:t>
            </a:r>
            <a:r>
              <a:rPr lang="en-US" sz="1650" b="1" i="0" u="none" strike="noStrike" cap="none" dirty="0">
                <a:solidFill>
                  <a:srgbClr val="00E5FF"/>
                </a:solidFill>
                <a:latin typeface="Arimo"/>
                <a:ea typeface="Arimo"/>
                <a:cs typeface="Arimo"/>
                <a:sym typeface="Arimo"/>
              </a:rPr>
              <a:t>α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433" y="14473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771525" y="581025"/>
            <a:ext cx="11381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FFFFFF"/>
                </a:solidFill>
                <a:latin typeface="+mj-lt"/>
                <a:ea typeface="Montserrat"/>
                <a:cs typeface="Montserrat"/>
                <a:sym typeface="Montserrat"/>
              </a:rPr>
              <a:t>ΤΟ ΠΡ</a:t>
            </a:r>
            <a:r>
              <a:rPr lang="en-US" sz="3150" b="1" dirty="0">
                <a:solidFill>
                  <a:srgbClr val="FFFFFF"/>
                </a:solidFill>
                <a:latin typeface="+mj-lt"/>
                <a:ea typeface="Montserrat"/>
                <a:cs typeface="Montserrat"/>
                <a:sym typeface="Montserrat"/>
              </a:rPr>
              <a:t>Ο</a:t>
            </a:r>
            <a:r>
              <a:rPr lang="en-US" sz="3150" b="1" i="0" u="none" strike="noStrike" cap="none" dirty="0">
                <a:solidFill>
                  <a:srgbClr val="FFFFFF"/>
                </a:solidFill>
                <a:latin typeface="+mj-lt"/>
                <a:ea typeface="Montserrat"/>
                <a:cs typeface="Montserrat"/>
                <a:sym typeface="Montserrat"/>
              </a:rPr>
              <a:t>ΒΛΗΜΑ ΤΗΣ ΑΣΤΙΚ</a:t>
            </a:r>
            <a:r>
              <a:rPr lang="en-US" sz="3150" b="1" dirty="0">
                <a:solidFill>
                  <a:srgbClr val="FFFFFF"/>
                </a:solidFill>
                <a:latin typeface="+mj-lt"/>
                <a:ea typeface="Montserrat"/>
                <a:cs typeface="Montserrat"/>
                <a:sym typeface="Montserrat"/>
              </a:rPr>
              <a:t>Η</a:t>
            </a:r>
            <a:r>
              <a:rPr lang="en-US" sz="3150" b="1" i="0" u="none" strike="noStrike" cap="none" dirty="0">
                <a:solidFill>
                  <a:srgbClr val="FFFFFF"/>
                </a:solidFill>
                <a:latin typeface="+mj-lt"/>
                <a:ea typeface="Montserrat"/>
                <a:cs typeface="Montserrat"/>
                <a:sym typeface="Montserrat"/>
              </a:rPr>
              <a:t>Σ ΣΤ</a:t>
            </a:r>
            <a:r>
              <a:rPr lang="en-US" sz="3150" b="1" dirty="0">
                <a:solidFill>
                  <a:srgbClr val="FFFFFF"/>
                </a:solidFill>
                <a:latin typeface="+mj-lt"/>
                <a:ea typeface="Montserrat"/>
                <a:cs typeface="Montserrat"/>
                <a:sym typeface="Montserrat"/>
              </a:rPr>
              <a:t>Α</a:t>
            </a:r>
            <a:r>
              <a:rPr lang="en-US" sz="3150" b="1" i="0" u="none" strike="noStrike" cap="none" dirty="0">
                <a:solidFill>
                  <a:srgbClr val="FFFFFF"/>
                </a:solidFill>
                <a:latin typeface="+mj-lt"/>
                <a:ea typeface="Montserrat"/>
                <a:cs typeface="Montserrat"/>
                <a:sym typeface="Montserrat"/>
              </a:rPr>
              <a:t>ΘΜΕΥΣΗΣ</a:t>
            </a:r>
            <a:endParaRPr dirty="0">
              <a:latin typeface="+mj-lt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581025" y="581025"/>
            <a:ext cx="57150" cy="4953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581025" y="4830812"/>
            <a:ext cx="11030100" cy="8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E5FF"/>
                </a:solidFill>
                <a:latin typeface="Arimo"/>
                <a:ea typeface="Arimo"/>
                <a:cs typeface="Arimo"/>
                <a:sym typeface="Arimo"/>
              </a:rPr>
              <a:t>Αυτό το σύστημα επιλύει και τα τέσσερα προβλήματα χρησιμοποιώντας IoT,  στρατ</a:t>
            </a:r>
            <a:r>
              <a:rPr lang="en-US" sz="2100" b="1">
                <a:solidFill>
                  <a:srgbClr val="00E5FF"/>
                </a:solidFill>
                <a:latin typeface="Arimo"/>
                <a:ea typeface="Arimo"/>
                <a:cs typeface="Arimo"/>
                <a:sym typeface="Arimo"/>
              </a:rPr>
              <a:t>ηγικές caching  και web </a:t>
            </a:r>
            <a:r>
              <a:rPr lang="en-US" sz="2100" b="1" i="0" u="none" strike="noStrike" cap="none">
                <a:solidFill>
                  <a:srgbClr val="00E5FF"/>
                </a:solidFill>
                <a:latin typeface="Arimo"/>
                <a:ea typeface="Arimo"/>
                <a:cs typeface="Arimo"/>
                <a:sym typeface="Arimo"/>
              </a:rPr>
              <a:t>τεχνολογίες πραγματικού χρόνου.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1009650" y="2049958"/>
            <a:ext cx="10601325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 err="1">
                <a:solidFill>
                  <a:srgbClr val="00E5FF"/>
                </a:solidFill>
                <a:latin typeface="Arimo"/>
                <a:ea typeface="Arimo"/>
                <a:cs typeface="Arimo"/>
                <a:sym typeface="Arimo"/>
              </a:rPr>
              <a:t>Σ</a:t>
            </a:r>
            <a:r>
              <a:rPr lang="en-US" sz="1425" b="1" i="0" u="none" strike="noStrike" cap="none" dirty="0">
                <a:solidFill>
                  <a:srgbClr val="00E5FF"/>
                </a:solidFill>
                <a:latin typeface="Arimo"/>
                <a:ea typeface="Arimo"/>
                <a:cs typeface="Arimo"/>
                <a:sym typeface="Arimo"/>
              </a:rPr>
              <a:t>πα</a:t>
            </a:r>
            <a:r>
              <a:rPr lang="en-US" sz="1425" b="1" i="0" u="none" strike="noStrike" cap="none" dirty="0" err="1">
                <a:solidFill>
                  <a:srgbClr val="00E5FF"/>
                </a:solidFill>
                <a:latin typeface="Arimo"/>
                <a:ea typeface="Arimo"/>
                <a:cs typeface="Arimo"/>
                <a:sym typeface="Arimo"/>
              </a:rPr>
              <a:t>τάλη</a:t>
            </a:r>
            <a:r>
              <a:rPr lang="en-US" sz="1425" b="1" i="0" u="none" strike="noStrike" cap="none" dirty="0">
                <a:solidFill>
                  <a:srgbClr val="00E5FF"/>
                </a:solidFill>
                <a:latin typeface="Arimo"/>
                <a:ea typeface="Arimo"/>
                <a:cs typeface="Arimo"/>
                <a:sym typeface="Arimo"/>
              </a:rPr>
              <a:t> Χρόνου: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25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Οι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25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οδηγοί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25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ξοδεύουν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25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κ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α</a:t>
            </a:r>
            <a:r>
              <a:rPr lang="en-US" sz="1425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τά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25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μέσο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25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όρο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10–15 </a:t>
            </a:r>
            <a:r>
              <a:rPr lang="en-US" sz="1425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λε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π</a:t>
            </a:r>
            <a:r>
              <a:rPr lang="en-US" sz="1425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τά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α</a:t>
            </a:r>
            <a:r>
              <a:rPr lang="en-US" sz="1425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νά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25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τ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α</a:t>
            </a:r>
            <a:r>
              <a:rPr lang="en-US" sz="1425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ξίδι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α</a:t>
            </a:r>
            <a:r>
              <a:rPr lang="en-US" sz="1425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ν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α</a:t>
            </a:r>
            <a:r>
              <a:rPr lang="en-US" sz="1425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ζητώντ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α</a:t>
            </a:r>
            <a:r>
              <a:rPr lang="en-US" sz="1425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ς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25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στάθμευση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25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σε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π</a:t>
            </a:r>
            <a:r>
              <a:rPr lang="en-US" sz="1425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υκνές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α</a:t>
            </a:r>
            <a:r>
              <a:rPr lang="en-US" sz="1425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στικές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π</a:t>
            </a:r>
            <a:r>
              <a:rPr lang="en-US" sz="1425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εριοχές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  <a:endParaRPr dirty="0"/>
          </a:p>
        </p:txBody>
      </p:sp>
      <p:sp>
        <p:nvSpPr>
          <p:cNvPr id="97" name="Google Shape;97;p14"/>
          <p:cNvSpPr txBox="1"/>
          <p:nvPr/>
        </p:nvSpPr>
        <p:spPr>
          <a:xfrm>
            <a:off x="1009650" y="2867025"/>
            <a:ext cx="1060132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 err="1">
                <a:solidFill>
                  <a:srgbClr val="00E5FF"/>
                </a:solidFill>
                <a:latin typeface="Arimo"/>
                <a:ea typeface="Arimo"/>
                <a:cs typeface="Arimo"/>
                <a:sym typeface="Arimo"/>
              </a:rPr>
              <a:t>Έλλειψη</a:t>
            </a:r>
            <a:r>
              <a:rPr lang="en-US" sz="1425" b="1" i="0" u="none" strike="noStrike" cap="none" dirty="0">
                <a:solidFill>
                  <a:srgbClr val="00E5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25" b="1" i="0" u="none" strike="noStrike" cap="none" dirty="0" err="1">
                <a:solidFill>
                  <a:srgbClr val="00E5FF"/>
                </a:solidFill>
                <a:latin typeface="Arimo"/>
                <a:ea typeface="Arimo"/>
                <a:cs typeface="Arimo"/>
                <a:sym typeface="Arimo"/>
              </a:rPr>
              <a:t>Δεδομένων</a:t>
            </a:r>
            <a:r>
              <a:rPr lang="en-US" sz="1425" b="1" i="0" u="none" strike="noStrike" cap="none" dirty="0">
                <a:solidFill>
                  <a:srgbClr val="00E5FF"/>
                </a:solidFill>
                <a:latin typeface="Arimo"/>
                <a:ea typeface="Arimo"/>
                <a:cs typeface="Arimo"/>
                <a:sym typeface="Arimo"/>
              </a:rPr>
              <a:t>: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25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Τ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α </a:t>
            </a:r>
            <a:r>
              <a:rPr lang="en-US" sz="1425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υ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π</a:t>
            </a:r>
            <a:r>
              <a:rPr lang="en-US" sz="1425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άρχοντ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α </a:t>
            </a:r>
            <a:r>
              <a:rPr lang="en-US" sz="1425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συστήμ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α</a:t>
            </a:r>
            <a:r>
              <a:rPr lang="en-US" sz="1425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τ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α </a:t>
            </a:r>
            <a:r>
              <a:rPr lang="en-US" sz="1425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δείχνουν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25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στ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α</a:t>
            </a:r>
            <a:r>
              <a:rPr lang="en-US" sz="1425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τική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π</a:t>
            </a:r>
            <a:r>
              <a:rPr lang="en-US" sz="1425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ληροφόρηση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25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κ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α</a:t>
            </a:r>
            <a:r>
              <a:rPr lang="en-US" sz="1425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ι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25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όχι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25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τη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25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ζωντ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α</a:t>
            </a:r>
            <a:r>
              <a:rPr lang="en-US" sz="1425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νή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25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κ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α</a:t>
            </a:r>
            <a:r>
              <a:rPr lang="en-US" sz="1425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τάστ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α</a:t>
            </a:r>
            <a:r>
              <a:rPr lang="en-US" sz="1425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ση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25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των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α</a:t>
            </a:r>
            <a:r>
              <a:rPr lang="en-US" sz="1425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ισθητήρων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  <a:endParaRPr dirty="0"/>
          </a:p>
        </p:txBody>
      </p:sp>
      <p:sp>
        <p:nvSpPr>
          <p:cNvPr id="98" name="Google Shape;98;p14"/>
          <p:cNvSpPr txBox="1"/>
          <p:nvPr/>
        </p:nvSpPr>
        <p:spPr>
          <a:xfrm>
            <a:off x="1009650" y="3394620"/>
            <a:ext cx="10601400" cy="5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>
                <a:solidFill>
                  <a:srgbClr val="00E5FF"/>
                </a:solidFill>
                <a:latin typeface="Arimo"/>
                <a:ea typeface="Arimo"/>
                <a:cs typeface="Arimo"/>
                <a:sym typeface="Arimo"/>
              </a:rPr>
              <a:t>Κυκλοφοριακή συμφόρηση και ρύπανση</a:t>
            </a:r>
            <a:r>
              <a:rPr lang="en-US" sz="1425" b="1" i="0" u="none" strike="noStrike" cap="none">
                <a:solidFill>
                  <a:srgbClr val="00E5FF"/>
                </a:solidFill>
                <a:latin typeface="Arimo"/>
                <a:ea typeface="Arimo"/>
                <a:cs typeface="Arimo"/>
                <a:sym typeface="Arimo"/>
              </a:rPr>
              <a:t>:</a:t>
            </a:r>
            <a:r>
              <a:rPr lang="en-US" sz="1425" b="0" i="0" u="none" strike="noStrike" cap="none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25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Η άσκοπη περιπλάνηση των οχημάτων για την εύρεση μιας ελεύθερης θέσης επιβαρύνει την τοπική κίνηση και αυξάνει τους ρύπους.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009650" y="4202741"/>
            <a:ext cx="106014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0E5FF"/>
                </a:solidFill>
                <a:latin typeface="Arimo"/>
                <a:ea typeface="Arimo"/>
                <a:cs typeface="Arimo"/>
                <a:sym typeface="Arimo"/>
              </a:rPr>
              <a:t>Απουσία Κρατήσεων:</a:t>
            </a:r>
            <a:r>
              <a:rPr lang="en-US" sz="1425" b="0" i="0" u="none" strike="noStrike" cap="none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Οι χρήστες δεν μπορούν να κάνουν κράτηση θέσης πριν την άφιξή τους.</a:t>
            </a:r>
            <a:endParaRPr/>
          </a:p>
        </p:txBody>
      </p:sp>
      <p:pic>
        <p:nvPicPr>
          <p:cNvPr id="100" name="Google Shape;100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5313" y="2130708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5313" y="291431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432720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9600" y="4188579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32315" y="1362075"/>
            <a:ext cx="4183409" cy="501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6275" y="1362075"/>
            <a:ext cx="6275041" cy="937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6275" y="2441971"/>
            <a:ext cx="6275041" cy="937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6275" y="3521868"/>
            <a:ext cx="6275041" cy="937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6275" y="4601765"/>
            <a:ext cx="6275041" cy="7637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627590" y="241354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627590" y="3217366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627590" y="4021187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627590" y="4825007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627590" y="562882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1009650" y="485775"/>
            <a:ext cx="110313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FFFFFF"/>
                </a:solidFill>
                <a:latin typeface="+mj-lt"/>
                <a:ea typeface="Calibri"/>
                <a:cs typeface="Calibri"/>
                <a:sym typeface="Calibri"/>
              </a:rPr>
              <a:t>ΑΡΧΙΤΕΚΤΟΝΙΚΗ &amp; ΡΟΗ ΔΕΔΟΜΕΝΩΝ</a:t>
            </a:r>
            <a:endParaRPr dirty="0"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7537768" y="1657350"/>
            <a:ext cx="37725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ΚΕΝΤΡΙΚΗ ΡΟΗ (MQTT → WS)</a:t>
            </a:r>
            <a:endParaRPr/>
          </a:p>
        </p:txBody>
      </p:sp>
      <p:pic>
        <p:nvPicPr>
          <p:cNvPr id="121" name="Google Shape;121;p15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23925" y="168771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1495425" y="1543050"/>
            <a:ext cx="5468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E5FF"/>
                </a:solidFill>
                <a:latin typeface="Montserrat"/>
                <a:ea typeface="Montserrat"/>
                <a:cs typeface="Montserrat"/>
                <a:sym typeface="Montserrat"/>
              </a:rPr>
              <a:t>FRONTEND LAYER (REACT + TS)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1495425" y="1771650"/>
            <a:ext cx="52083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Pages &amp; Components | Contexts (Auth, Favorites) | Hooks (useLiveSpots, useViewport) | Services (api.ts)</a:t>
            </a:r>
            <a:endParaRPr/>
          </a:p>
        </p:txBody>
      </p:sp>
      <p:pic>
        <p:nvPicPr>
          <p:cNvPr id="124" name="Google Shape;124;p15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923925" y="2767607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1495425" y="2622946"/>
            <a:ext cx="5468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E5FF"/>
                </a:solidFill>
                <a:latin typeface="Montserrat"/>
                <a:ea typeface="Montserrat"/>
                <a:cs typeface="Montserrat"/>
                <a:sym typeface="Montserrat"/>
              </a:rPr>
              <a:t>BACKEND LAYER (FASTAPI)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1495425" y="2851546"/>
            <a:ext cx="52083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Routers &amp; Endpoints | Services (Business Logic) | Repositories | JWT Guards | MQTT Consumer Thread</a:t>
            </a:r>
            <a:endParaRPr/>
          </a:p>
        </p:txBody>
      </p:sp>
      <p:pic>
        <p:nvPicPr>
          <p:cNvPr id="127" name="Google Shape;127;p15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923925" y="3847504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>
            <a:off x="1495425" y="3702843"/>
            <a:ext cx="5468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E5FF"/>
                </a:solidFill>
                <a:latin typeface="Montserrat"/>
                <a:ea typeface="Montserrat"/>
                <a:cs typeface="Montserrat"/>
                <a:sym typeface="Montserrat"/>
              </a:rPr>
              <a:t>DATA LAYER (STORAGE &amp; CACHE)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1495425" y="3931443"/>
            <a:ext cx="52083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PostgreSQL 16: Persistent Tables &amp; B-Tree GIS Indexes | Redis 7: GEOSEARCH, Hashes &amp; Status Sets</a:t>
            </a:r>
            <a:endParaRPr/>
          </a:p>
        </p:txBody>
      </p:sp>
      <p:pic>
        <p:nvPicPr>
          <p:cNvPr id="130" name="Google Shape;130;p15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923925" y="4840783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 txBox="1"/>
          <p:nvPr/>
        </p:nvSpPr>
        <p:spPr>
          <a:xfrm>
            <a:off x="1495425" y="4782740"/>
            <a:ext cx="5468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E5FF"/>
                </a:solidFill>
                <a:latin typeface="Montserrat"/>
                <a:ea typeface="Montserrat"/>
                <a:cs typeface="Montserrat"/>
                <a:sym typeface="Montserrat"/>
              </a:rPr>
              <a:t>IOT LAYER (MQTT)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1495425" y="5011340"/>
            <a:ext cx="52083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Mock Publisher (Athens/Larissa) | Mosquitto Broker | Topic-based status updates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7999065" y="2423070"/>
            <a:ext cx="9906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0E5FF"/>
                </a:solidFill>
                <a:latin typeface="Arimo"/>
                <a:ea typeface="Arimo"/>
                <a:cs typeface="Arimo"/>
                <a:sym typeface="Arimo"/>
              </a:rPr>
              <a:t>Sensor Publish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7999065" y="2584995"/>
            <a:ext cx="15432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Topic: parking/Athens/7/status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7999065" y="3226891"/>
            <a:ext cx="8574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0E5FF"/>
                </a:solidFill>
                <a:latin typeface="Arimo"/>
                <a:ea typeface="Arimo"/>
                <a:cs typeface="Arimo"/>
                <a:sym typeface="Arimo"/>
              </a:rPr>
              <a:t>MQTT Broker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7999065" y="3388816"/>
            <a:ext cx="19623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Mosquitto (1883) → Backend callback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8008590" y="4017475"/>
            <a:ext cx="15240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0E5FF"/>
                </a:solidFill>
                <a:latin typeface="Arimo"/>
                <a:ea typeface="Arimo"/>
                <a:cs typeface="Arimo"/>
                <a:sym typeface="Arimo"/>
              </a:rPr>
              <a:t>WebSocket Push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7999065" y="4192637"/>
            <a:ext cx="22002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Broadcast σε όλους τους browsers αμέσως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7999065" y="4834532"/>
            <a:ext cx="12288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0E5FF"/>
                </a:solidFill>
                <a:latin typeface="Arimo"/>
                <a:ea typeface="Arimo"/>
                <a:cs typeface="Arimo"/>
                <a:sym typeface="Arimo"/>
              </a:rPr>
              <a:t>Batch Update Task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7999065" y="4996457"/>
            <a:ext cx="1809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Κάθε 5s: PostgreSQL + Redis Sync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7999065" y="5638353"/>
            <a:ext cx="9525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0E5FF"/>
                </a:solidFill>
                <a:latin typeface="Arimo"/>
                <a:ea typeface="Arimo"/>
                <a:cs typeface="Arimo"/>
                <a:sym typeface="Arimo"/>
              </a:rPr>
              <a:t>UI Map Update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7999065" y="5800278"/>
            <a:ext cx="19908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Leaflet marker αλλάζει χρώμα ακαριαία</a:t>
            </a:r>
            <a:endParaRPr/>
          </a:p>
        </p:txBody>
      </p:sp>
      <p:pic>
        <p:nvPicPr>
          <p:cNvPr id="143" name="Google Shape;143;p15" descr="image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9134740" y="4033262"/>
            <a:ext cx="33337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7339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1543050"/>
            <a:ext cx="10648949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2133600"/>
            <a:ext cx="10648949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2695575"/>
            <a:ext cx="10648949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3257550"/>
            <a:ext cx="10648949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3819525"/>
            <a:ext cx="10648949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4381500"/>
            <a:ext cx="10648949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4943475"/>
            <a:ext cx="10648949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6067425"/>
            <a:ext cx="10648949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5505450"/>
            <a:ext cx="10648949" cy="466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/>
          <p:nvPr/>
        </p:nvSpPr>
        <p:spPr>
          <a:xfrm>
            <a:off x="1035392" y="671482"/>
            <a:ext cx="107814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 dirty="0">
                <a:solidFill>
                  <a:srgbClr val="FFFFFF"/>
                </a:solidFill>
                <a:latin typeface="+mj-lt"/>
                <a:ea typeface="Montserrat ExtraBold"/>
                <a:cs typeface="Montserrat ExtraBold"/>
                <a:sym typeface="Montserrat ExtraBold"/>
              </a:rPr>
              <a:t>SMART PARKING: TECHNOLOGY STACK</a:t>
            </a:r>
            <a:endParaRPr b="1" dirty="0">
              <a:latin typeface="+mj-lt"/>
            </a:endParaRPr>
          </a:p>
        </p:txBody>
      </p:sp>
      <p:sp>
        <p:nvSpPr>
          <p:cNvPr id="159" name="Google Shape;159;p16"/>
          <p:cNvSpPr txBox="1"/>
          <p:nvPr/>
        </p:nvSpPr>
        <p:spPr>
          <a:xfrm>
            <a:off x="1057275" y="1685925"/>
            <a:ext cx="33339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0E5FF"/>
                </a:solidFill>
                <a:latin typeface="Montserrat"/>
                <a:ea typeface="Montserrat"/>
                <a:cs typeface="Montserrat"/>
                <a:sym typeface="Montserrat"/>
              </a:rPr>
              <a:t>ΚΑΤΗΓΟΡΙΑ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4391025" y="1685925"/>
            <a:ext cx="67437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0E5FF"/>
                </a:solidFill>
                <a:latin typeface="Montserrat"/>
                <a:ea typeface="Montserrat"/>
                <a:cs typeface="Montserrat"/>
                <a:sym typeface="Montserrat"/>
              </a:rPr>
              <a:t>ΤΕΧΝΟΛΟΓΙΑ &amp; ΕΚΔΟΣΗ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1066800" y="2266950"/>
            <a:ext cx="33339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Backend Framework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4400550" y="2257425"/>
            <a:ext cx="67248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FastAPI (Python 3.11)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1066800" y="2828925"/>
            <a:ext cx="33339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Βάση Δεδομένων</a:t>
            </a:r>
            <a:endParaRPr/>
          </a:p>
        </p:txBody>
      </p:sp>
      <p:sp>
        <p:nvSpPr>
          <p:cNvPr id="164" name="Google Shape;164;p16"/>
          <p:cNvSpPr txBox="1"/>
          <p:nvPr/>
        </p:nvSpPr>
        <p:spPr>
          <a:xfrm>
            <a:off x="4400550" y="2819400"/>
            <a:ext cx="67248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PostgreSQL 16 &amp; SQLAlchemy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1066800" y="3390900"/>
            <a:ext cx="33339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Προσωρινή Μνήμη (Cache)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4400550" y="3381375"/>
            <a:ext cx="67248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Redis 7 (Geo-search, Status)</a:t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1066800" y="3952875"/>
            <a:ext cx="33339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Message Broker</a:t>
            </a:r>
            <a:endParaRPr/>
          </a:p>
        </p:txBody>
      </p:sp>
      <p:sp>
        <p:nvSpPr>
          <p:cNvPr id="168" name="Google Shape;168;p16"/>
          <p:cNvSpPr txBox="1"/>
          <p:nvPr/>
        </p:nvSpPr>
        <p:spPr>
          <a:xfrm>
            <a:off x="4400550" y="3943350"/>
            <a:ext cx="67248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Eclipse Mosquitto MQTT 2.x</a:t>
            </a:r>
            <a:endParaRPr/>
          </a:p>
        </p:txBody>
      </p:sp>
      <p:sp>
        <p:nvSpPr>
          <p:cNvPr id="169" name="Google Shape;169;p16"/>
          <p:cNvSpPr txBox="1"/>
          <p:nvPr/>
        </p:nvSpPr>
        <p:spPr>
          <a:xfrm>
            <a:off x="1066800" y="4514850"/>
            <a:ext cx="33339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Frontend</a:t>
            </a:r>
            <a:endParaRPr/>
          </a:p>
        </p:txBody>
      </p:sp>
      <p:sp>
        <p:nvSpPr>
          <p:cNvPr id="170" name="Google Shape;170;p16"/>
          <p:cNvSpPr txBox="1"/>
          <p:nvPr/>
        </p:nvSpPr>
        <p:spPr>
          <a:xfrm>
            <a:off x="4400550" y="4505325"/>
            <a:ext cx="67248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React 18 + Vite + TypeScript </a:t>
            </a:r>
            <a:endParaRPr/>
          </a:p>
        </p:txBody>
      </p:sp>
      <p:sp>
        <p:nvSpPr>
          <p:cNvPr id="171" name="Google Shape;171;p16"/>
          <p:cNvSpPr txBox="1"/>
          <p:nvPr/>
        </p:nvSpPr>
        <p:spPr>
          <a:xfrm>
            <a:off x="1066800" y="5076825"/>
            <a:ext cx="33339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Βιβλιοθήκη Χάρτη</a:t>
            </a:r>
            <a:endParaRPr/>
          </a:p>
        </p:txBody>
      </p:sp>
      <p:sp>
        <p:nvSpPr>
          <p:cNvPr id="172" name="Google Shape;172;p16"/>
          <p:cNvSpPr txBox="1"/>
          <p:nvPr/>
        </p:nvSpPr>
        <p:spPr>
          <a:xfrm>
            <a:off x="4400550" y="5067300"/>
            <a:ext cx="67248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Leaflet + react-leaflet</a:t>
            </a:r>
            <a:endParaRPr/>
          </a:p>
        </p:txBody>
      </p:sp>
      <p:sp>
        <p:nvSpPr>
          <p:cNvPr id="173" name="Google Shape;173;p16"/>
          <p:cNvSpPr txBox="1"/>
          <p:nvPr/>
        </p:nvSpPr>
        <p:spPr>
          <a:xfrm>
            <a:off x="1066800" y="6200775"/>
            <a:ext cx="33339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Πραγματικός Χρόνος</a:t>
            </a:r>
            <a:endParaRPr/>
          </a:p>
        </p:txBody>
      </p:sp>
      <p:sp>
        <p:nvSpPr>
          <p:cNvPr id="174" name="Google Shape;174;p16"/>
          <p:cNvSpPr txBox="1"/>
          <p:nvPr/>
        </p:nvSpPr>
        <p:spPr>
          <a:xfrm>
            <a:off x="4400550" y="6191250"/>
            <a:ext cx="67248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WebSocket (Native) + paho-mqtt</a:t>
            </a:r>
            <a:endParaRPr/>
          </a:p>
        </p:txBody>
      </p:sp>
      <p:sp>
        <p:nvSpPr>
          <p:cNvPr id="175" name="Google Shape;175;p16"/>
          <p:cNvSpPr txBox="1"/>
          <p:nvPr/>
        </p:nvSpPr>
        <p:spPr>
          <a:xfrm>
            <a:off x="1093800" y="5634850"/>
            <a:ext cx="33339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Containerization</a:t>
            </a:r>
            <a:endParaRPr/>
          </a:p>
        </p:txBody>
      </p:sp>
      <p:sp>
        <p:nvSpPr>
          <p:cNvPr id="176" name="Google Shape;176;p16"/>
          <p:cNvSpPr txBox="1"/>
          <p:nvPr/>
        </p:nvSpPr>
        <p:spPr>
          <a:xfrm>
            <a:off x="4391025" y="5623313"/>
            <a:ext cx="67248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Docker &amp; Docker Compose </a:t>
            </a:r>
            <a:endParaRPr/>
          </a:p>
        </p:txBody>
      </p:sp>
      <p:pic>
        <p:nvPicPr>
          <p:cNvPr id="177" name="Google Shape;177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744200" y="2262187"/>
            <a:ext cx="3810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744200" y="2824162"/>
            <a:ext cx="3810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744200" y="3386137"/>
            <a:ext cx="3810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744200" y="3948112"/>
            <a:ext cx="3810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744200" y="4510087"/>
            <a:ext cx="3810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744200" y="5072062"/>
            <a:ext cx="3810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744200" y="6196012"/>
            <a:ext cx="3810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6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753725" y="5634050"/>
            <a:ext cx="381000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7"/>
          <p:cNvSpPr txBox="1"/>
          <p:nvPr/>
        </p:nvSpPr>
        <p:spPr>
          <a:xfrm>
            <a:off x="771525" y="581025"/>
            <a:ext cx="11381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FFFFFF"/>
                </a:solidFill>
                <a:latin typeface="+mj-lt"/>
                <a:ea typeface="Montserrat"/>
                <a:cs typeface="Montserrat"/>
                <a:sym typeface="Montserrat"/>
              </a:rPr>
              <a:t>ΣΧ</a:t>
            </a:r>
            <a:r>
              <a:rPr lang="en-US" sz="3150" b="1" dirty="0">
                <a:solidFill>
                  <a:srgbClr val="FFFFFF"/>
                </a:solidFill>
                <a:latin typeface="+mj-lt"/>
                <a:ea typeface="Montserrat"/>
                <a:cs typeface="Montserrat"/>
                <a:sym typeface="Montserrat"/>
              </a:rPr>
              <a:t>Η</a:t>
            </a:r>
            <a:r>
              <a:rPr lang="en-US" sz="3150" b="1" i="0" u="none" strike="noStrike" cap="none" dirty="0">
                <a:solidFill>
                  <a:srgbClr val="FFFFFF"/>
                </a:solidFill>
                <a:latin typeface="+mj-lt"/>
                <a:ea typeface="Montserrat"/>
                <a:cs typeface="Montserrat"/>
                <a:sym typeface="Montserrat"/>
              </a:rPr>
              <a:t>ΜΑ Β</a:t>
            </a:r>
            <a:r>
              <a:rPr lang="en-US" sz="3150" b="1" dirty="0">
                <a:solidFill>
                  <a:srgbClr val="FFFFFF"/>
                </a:solidFill>
                <a:latin typeface="+mj-lt"/>
                <a:ea typeface="Montserrat"/>
                <a:cs typeface="Montserrat"/>
                <a:sym typeface="Montserrat"/>
              </a:rPr>
              <a:t>Α</a:t>
            </a:r>
            <a:r>
              <a:rPr lang="en-US" sz="3150" b="1" i="0" u="none" strike="noStrike" cap="none" dirty="0">
                <a:solidFill>
                  <a:srgbClr val="FFFFFF"/>
                </a:solidFill>
                <a:latin typeface="+mj-lt"/>
                <a:ea typeface="Montserrat"/>
                <a:cs typeface="Montserrat"/>
                <a:sym typeface="Montserrat"/>
              </a:rPr>
              <a:t>ΣΗΣ ΔΕΔΟΜ</a:t>
            </a:r>
            <a:r>
              <a:rPr lang="en-US" sz="3150" b="1" dirty="0">
                <a:solidFill>
                  <a:srgbClr val="FFFFFF"/>
                </a:solidFill>
                <a:latin typeface="+mj-lt"/>
                <a:ea typeface="Montserrat"/>
                <a:cs typeface="Montserrat"/>
                <a:sym typeface="Montserrat"/>
              </a:rPr>
              <a:t>Ε</a:t>
            </a:r>
            <a:r>
              <a:rPr lang="en-US" sz="3150" b="1" i="0" u="none" strike="noStrike" cap="none" dirty="0">
                <a:solidFill>
                  <a:srgbClr val="FFFFFF"/>
                </a:solidFill>
                <a:latin typeface="+mj-lt"/>
                <a:ea typeface="Montserrat"/>
                <a:cs typeface="Montserrat"/>
                <a:sym typeface="Montserrat"/>
              </a:rPr>
              <a:t>ΝΩΝ (POSTGRESQL)</a:t>
            </a:r>
            <a:endParaRPr dirty="0">
              <a:latin typeface="+mj-lt"/>
            </a:endParaRPr>
          </a:p>
        </p:txBody>
      </p:sp>
      <p:sp>
        <p:nvSpPr>
          <p:cNvPr id="191" name="Google Shape;191;p17"/>
          <p:cNvSpPr/>
          <p:nvPr/>
        </p:nvSpPr>
        <p:spPr>
          <a:xfrm>
            <a:off x="581025" y="581025"/>
            <a:ext cx="57150" cy="4953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2" name="Google Shape;19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361604"/>
            <a:ext cx="5324475" cy="2972692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7"/>
          <p:cNvSpPr txBox="1"/>
          <p:nvPr/>
        </p:nvSpPr>
        <p:spPr>
          <a:xfrm>
            <a:off x="1009650" y="1969144"/>
            <a:ext cx="489585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0E5FF"/>
                </a:solidFill>
                <a:latin typeface="Arimo"/>
                <a:ea typeface="Arimo"/>
                <a:cs typeface="Arimo"/>
                <a:sym typeface="Arimo"/>
              </a:rPr>
              <a:t>parking_spots:</a:t>
            </a:r>
            <a:r>
              <a:rPr lang="en-US" sz="1425" b="0" i="0" u="none" strike="noStrike" cap="none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Τοποθεσία, πόλη, κατάσταση. Ευρετήριο B-Tree για bbox queries.</a:t>
            </a:r>
            <a:endParaRPr/>
          </a:p>
        </p:txBody>
      </p:sp>
      <p:sp>
        <p:nvSpPr>
          <p:cNvPr id="194" name="Google Shape;194;p17"/>
          <p:cNvSpPr txBox="1"/>
          <p:nvPr/>
        </p:nvSpPr>
        <p:spPr>
          <a:xfrm>
            <a:off x="1009650" y="2786211"/>
            <a:ext cx="489585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0E5FF"/>
                </a:solidFill>
                <a:latin typeface="Arimo"/>
                <a:ea typeface="Arimo"/>
                <a:cs typeface="Arimo"/>
                <a:sym typeface="Arimo"/>
              </a:rPr>
              <a:t>spot_status_log:</a:t>
            </a:r>
            <a:r>
              <a:rPr lang="en-US" sz="1425" b="0" i="0" u="none" strike="noStrike" cap="none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Ιστορικό αλλαγών κατάστασης για ανάλυση.</a:t>
            </a:r>
            <a:endParaRPr/>
          </a:p>
        </p:txBody>
      </p:sp>
      <p:sp>
        <p:nvSpPr>
          <p:cNvPr id="195" name="Google Shape;195;p17"/>
          <p:cNvSpPr txBox="1"/>
          <p:nvPr/>
        </p:nvSpPr>
        <p:spPr>
          <a:xfrm>
            <a:off x="1009650" y="3603277"/>
            <a:ext cx="489585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0E5FF"/>
                </a:solidFill>
                <a:latin typeface="Arimo"/>
                <a:ea typeface="Arimo"/>
                <a:cs typeface="Arimo"/>
                <a:sym typeface="Arimo"/>
              </a:rPr>
              <a:t>users &amp; favorites:</a:t>
            </a:r>
            <a:r>
              <a:rPr lang="en-US" sz="1425" b="0" i="0" u="none" strike="noStrike" cap="none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Διαχείριση χρηστών και αγαπημένων θέσεων.</a:t>
            </a:r>
            <a:endParaRPr/>
          </a:p>
        </p:txBody>
      </p:sp>
      <p:sp>
        <p:nvSpPr>
          <p:cNvPr id="196" name="Google Shape;196;p17"/>
          <p:cNvSpPr txBox="1"/>
          <p:nvPr/>
        </p:nvSpPr>
        <p:spPr>
          <a:xfrm>
            <a:off x="1009650" y="4420344"/>
            <a:ext cx="489585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0E5FF"/>
                </a:solidFill>
                <a:latin typeface="Arimo"/>
                <a:ea typeface="Arimo"/>
                <a:cs typeface="Arimo"/>
                <a:sym typeface="Arimo"/>
              </a:rPr>
              <a:t>reservations:</a:t>
            </a:r>
            <a:r>
              <a:rPr lang="en-US" sz="1425" b="0" i="0" u="none" strike="noStrike" cap="none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Διαχείριση κρατήσεων με χρόνο έναρξης/λήξης.</a:t>
            </a:r>
            <a:endParaRPr/>
          </a:p>
        </p:txBody>
      </p:sp>
      <p:sp>
        <p:nvSpPr>
          <p:cNvPr id="197" name="Google Shape;197;p17"/>
          <p:cNvSpPr txBox="1"/>
          <p:nvPr/>
        </p:nvSpPr>
        <p:spPr>
          <a:xfrm>
            <a:off x="1009650" y="5237410"/>
            <a:ext cx="489585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0E5FF"/>
                </a:solidFill>
                <a:latin typeface="Arimo"/>
                <a:ea typeface="Arimo"/>
                <a:cs typeface="Arimo"/>
                <a:sym typeface="Arimo"/>
              </a:rPr>
              <a:t>paid_parking:</a:t>
            </a:r>
            <a:r>
              <a:rPr lang="en-US" sz="1425" b="0" i="0" u="none" strike="noStrike" cap="none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Σύνδεση 1-προς-1 για τιμολόγηση ανά ώρα.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8"/>
          <p:cNvSpPr txBox="1"/>
          <p:nvPr/>
        </p:nvSpPr>
        <p:spPr>
          <a:xfrm>
            <a:off x="771525" y="581025"/>
            <a:ext cx="11381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+mj-lt"/>
                <a:ea typeface="Montserrat"/>
                <a:cs typeface="Montserrat"/>
                <a:sym typeface="Montserrat"/>
              </a:rPr>
              <a:t>ΡΟ</a:t>
            </a:r>
            <a:r>
              <a:rPr lang="en-US" sz="3150" b="1">
                <a:solidFill>
                  <a:srgbClr val="FFFFFF"/>
                </a:solidFill>
                <a:latin typeface="+mj-lt"/>
                <a:ea typeface="Montserrat"/>
                <a:cs typeface="Montserrat"/>
                <a:sym typeface="Montserrat"/>
              </a:rPr>
              <a:t>Η</a:t>
            </a:r>
            <a:r>
              <a:rPr lang="en-US" sz="3150" b="1" i="0" u="none" strike="noStrike" cap="none">
                <a:solidFill>
                  <a:srgbClr val="FFFFFF"/>
                </a:solidFill>
                <a:latin typeface="+mj-lt"/>
                <a:ea typeface="Montserrat"/>
                <a:cs typeface="Montserrat"/>
                <a:sym typeface="Montserrat"/>
              </a:rPr>
              <a:t> ΔΕΔΟΜ</a:t>
            </a:r>
            <a:r>
              <a:rPr lang="en-US" sz="3150" b="1">
                <a:solidFill>
                  <a:srgbClr val="FFFFFF"/>
                </a:solidFill>
                <a:latin typeface="+mj-lt"/>
                <a:ea typeface="Montserrat"/>
                <a:cs typeface="Montserrat"/>
                <a:sym typeface="Montserrat"/>
              </a:rPr>
              <a:t>Ε</a:t>
            </a:r>
            <a:r>
              <a:rPr lang="en-US" sz="3150" b="1" i="0" u="none" strike="noStrike" cap="none">
                <a:solidFill>
                  <a:srgbClr val="FFFFFF"/>
                </a:solidFill>
                <a:latin typeface="+mj-lt"/>
                <a:ea typeface="Montserrat"/>
                <a:cs typeface="Montserrat"/>
                <a:sym typeface="Montserrat"/>
              </a:rPr>
              <a:t>ΝΩΝ: MQTT ΠΡΟΣ BROWSER</a:t>
            </a:r>
            <a:endParaRPr>
              <a:latin typeface="+mj-lt"/>
            </a:endParaRPr>
          </a:p>
        </p:txBody>
      </p:sp>
      <p:sp>
        <p:nvSpPr>
          <p:cNvPr id="204" name="Google Shape;204;p18"/>
          <p:cNvSpPr/>
          <p:nvPr/>
        </p:nvSpPr>
        <p:spPr>
          <a:xfrm>
            <a:off x="581025" y="581025"/>
            <a:ext cx="57150" cy="4953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8"/>
          <p:cNvSpPr txBox="1"/>
          <p:nvPr/>
        </p:nvSpPr>
        <p:spPr>
          <a:xfrm>
            <a:off x="581025" y="5428208"/>
            <a:ext cx="1102995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1" u="none" strike="noStrike" cap="none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"Οι ομαδικές εγγραφές (Batching) αποτρέπουν την υπερφόρτωση της βάσης υπό συνθήκες 1000+ μηνυμάτων/δευτερόλεπτο."</a:t>
            </a:r>
            <a:endParaRPr/>
          </a:p>
        </p:txBody>
      </p:sp>
      <p:sp>
        <p:nvSpPr>
          <p:cNvPr id="206" name="Google Shape;206;p18"/>
          <p:cNvSpPr/>
          <p:nvPr/>
        </p:nvSpPr>
        <p:spPr>
          <a:xfrm>
            <a:off x="581025" y="2969121"/>
            <a:ext cx="11029950" cy="381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1459408" y="3178671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 w="3810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8"/>
          <p:cNvSpPr txBox="1"/>
          <p:nvPr/>
        </p:nvSpPr>
        <p:spPr>
          <a:xfrm>
            <a:off x="531390" y="3864471"/>
            <a:ext cx="208463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1. SENSOR</a:t>
            </a:r>
            <a:endParaRPr/>
          </a:p>
        </p:txBody>
      </p:sp>
      <p:sp>
        <p:nvSpPr>
          <p:cNvPr id="209" name="Google Shape;209;p18"/>
          <p:cNvSpPr txBox="1"/>
          <p:nvPr/>
        </p:nvSpPr>
        <p:spPr>
          <a:xfrm>
            <a:off x="581025" y="4083546"/>
            <a:ext cx="1985367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Δημοσίευση στο parking/{city}/{id}/status</a:t>
            </a:r>
            <a:endParaRPr/>
          </a:p>
        </p:txBody>
      </p:sp>
      <p:sp>
        <p:nvSpPr>
          <p:cNvPr id="210" name="Google Shape;210;p18"/>
          <p:cNvSpPr/>
          <p:nvPr/>
        </p:nvSpPr>
        <p:spPr>
          <a:xfrm>
            <a:off x="3720554" y="3178671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 w="3810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8"/>
          <p:cNvSpPr txBox="1"/>
          <p:nvPr/>
        </p:nvSpPr>
        <p:spPr>
          <a:xfrm>
            <a:off x="2792536" y="3864471"/>
            <a:ext cx="208463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2. CONSUMER</a:t>
            </a:r>
            <a:endParaRPr/>
          </a:p>
        </p:txBody>
      </p:sp>
      <p:sp>
        <p:nvSpPr>
          <p:cNvPr id="212" name="Google Shape;212;p18"/>
          <p:cNvSpPr txBox="1"/>
          <p:nvPr/>
        </p:nvSpPr>
        <p:spPr>
          <a:xfrm>
            <a:off x="2842170" y="4083546"/>
            <a:ext cx="1985367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Asyncio Queue στο Backend (FastAPI)</a:t>
            </a:r>
            <a:endParaRPr/>
          </a:p>
        </p:txBody>
      </p:sp>
      <p:sp>
        <p:nvSpPr>
          <p:cNvPr id="213" name="Google Shape;213;p18"/>
          <p:cNvSpPr/>
          <p:nvPr/>
        </p:nvSpPr>
        <p:spPr>
          <a:xfrm>
            <a:off x="5981700" y="3178671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 w="3810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8"/>
          <p:cNvSpPr txBox="1"/>
          <p:nvPr/>
        </p:nvSpPr>
        <p:spPr>
          <a:xfrm>
            <a:off x="5053682" y="3864471"/>
            <a:ext cx="208463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3. BROADCAST</a:t>
            </a:r>
            <a:endParaRPr/>
          </a:p>
        </p:txBody>
      </p:sp>
      <p:sp>
        <p:nvSpPr>
          <p:cNvPr id="215" name="Google Shape;215;p18"/>
          <p:cNvSpPr txBox="1"/>
          <p:nvPr/>
        </p:nvSpPr>
        <p:spPr>
          <a:xfrm>
            <a:off x="5103316" y="4083546"/>
            <a:ext cx="1985367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Άμεση ενημέρωση WebSocket πελατών</a:t>
            </a:r>
            <a:endParaRPr/>
          </a:p>
        </p:txBody>
      </p:sp>
      <p:sp>
        <p:nvSpPr>
          <p:cNvPr id="216" name="Google Shape;216;p18"/>
          <p:cNvSpPr/>
          <p:nvPr/>
        </p:nvSpPr>
        <p:spPr>
          <a:xfrm>
            <a:off x="8242845" y="3178671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 w="3810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8"/>
          <p:cNvSpPr txBox="1"/>
          <p:nvPr/>
        </p:nvSpPr>
        <p:spPr>
          <a:xfrm>
            <a:off x="7314827" y="3864471"/>
            <a:ext cx="208463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4. BATCH SYNC</a:t>
            </a:r>
            <a:endParaRPr/>
          </a:p>
        </p:txBody>
      </p:sp>
      <p:sp>
        <p:nvSpPr>
          <p:cNvPr id="218" name="Google Shape;218;p18"/>
          <p:cNvSpPr txBox="1"/>
          <p:nvPr/>
        </p:nvSpPr>
        <p:spPr>
          <a:xfrm>
            <a:off x="7364462" y="4083546"/>
            <a:ext cx="1985367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Ενημέρωση DB/Redis ανά 5 δευτερόλεπτα</a:t>
            </a:r>
            <a:endParaRPr/>
          </a:p>
        </p:txBody>
      </p:sp>
      <p:sp>
        <p:nvSpPr>
          <p:cNvPr id="219" name="Google Shape;219;p18"/>
          <p:cNvSpPr/>
          <p:nvPr/>
        </p:nvSpPr>
        <p:spPr>
          <a:xfrm>
            <a:off x="10503991" y="3178671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 w="3810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8"/>
          <p:cNvSpPr txBox="1"/>
          <p:nvPr/>
        </p:nvSpPr>
        <p:spPr>
          <a:xfrm>
            <a:off x="9575973" y="3864471"/>
            <a:ext cx="208463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5. BROWSER</a:t>
            </a:r>
            <a:endParaRPr/>
          </a:p>
        </p:txBody>
      </p:sp>
      <p:sp>
        <p:nvSpPr>
          <p:cNvPr id="221" name="Google Shape;221;p18"/>
          <p:cNvSpPr txBox="1"/>
          <p:nvPr/>
        </p:nvSpPr>
        <p:spPr>
          <a:xfrm>
            <a:off x="9625607" y="4083546"/>
            <a:ext cx="1985367" cy="86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Άμεση αλλαγή χρώματος δείκτη στο χάρτη</a:t>
            </a:r>
            <a:endParaRPr/>
          </a:p>
        </p:txBody>
      </p:sp>
      <p:pic>
        <p:nvPicPr>
          <p:cNvPr id="222" name="Google Shape;22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30833" y="2407146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72929" y="2407146"/>
            <a:ext cx="3238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72175" y="2407146"/>
            <a:ext cx="2476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95220" y="2407146"/>
            <a:ext cx="3238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508753" y="2407146"/>
            <a:ext cx="219075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9"/>
          <p:cNvSpPr txBox="1"/>
          <p:nvPr/>
        </p:nvSpPr>
        <p:spPr>
          <a:xfrm>
            <a:off x="771525" y="581025"/>
            <a:ext cx="11381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FFFFFF"/>
                </a:solidFill>
                <a:latin typeface="+mj-lt"/>
                <a:ea typeface="Montserrat"/>
                <a:cs typeface="Montserrat"/>
                <a:sym typeface="Montserrat"/>
              </a:rPr>
              <a:t>ΣΤΡΑΤΗΓΙΚ</a:t>
            </a:r>
            <a:r>
              <a:rPr lang="en-US" sz="3150" b="1" dirty="0">
                <a:solidFill>
                  <a:srgbClr val="FFFFFF"/>
                </a:solidFill>
                <a:latin typeface="+mj-lt"/>
                <a:ea typeface="Montserrat"/>
                <a:cs typeface="Montserrat"/>
                <a:sym typeface="Montserrat"/>
              </a:rPr>
              <a:t>Η</a:t>
            </a:r>
            <a:r>
              <a:rPr lang="en-US" sz="3150" b="1" i="0" u="none" strike="noStrike" cap="none" dirty="0">
                <a:solidFill>
                  <a:srgbClr val="FFFFFF"/>
                </a:solidFill>
                <a:latin typeface="+mj-lt"/>
                <a:ea typeface="Montserrat"/>
                <a:cs typeface="Montserrat"/>
                <a:sym typeface="Montserrat"/>
              </a:rPr>
              <a:t> CACHING REDIS</a:t>
            </a:r>
            <a:endParaRPr dirty="0">
              <a:latin typeface="+mj-lt"/>
            </a:endParaRPr>
          </a:p>
        </p:txBody>
      </p:sp>
      <p:sp>
        <p:nvSpPr>
          <p:cNvPr id="233" name="Google Shape;233;p19"/>
          <p:cNvSpPr/>
          <p:nvPr/>
        </p:nvSpPr>
        <p:spPr>
          <a:xfrm>
            <a:off x="581025" y="581025"/>
            <a:ext cx="57150" cy="4953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9"/>
          <p:cNvSpPr txBox="1"/>
          <p:nvPr/>
        </p:nvSpPr>
        <p:spPr>
          <a:xfrm>
            <a:off x="581025" y="2422475"/>
            <a:ext cx="55908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ΔΟΜ</a:t>
            </a:r>
            <a:r>
              <a:rPr lang="en-US" sz="1404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Ε</a:t>
            </a:r>
            <a:r>
              <a:rPr lang="en-US" sz="1404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Σ ΔΕΔΟΜ</a:t>
            </a:r>
            <a:r>
              <a:rPr lang="en-US" sz="1404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Ε</a:t>
            </a:r>
            <a:r>
              <a:rPr lang="en-US" sz="1404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ΝΩΝ</a:t>
            </a:r>
            <a:endParaRPr/>
          </a:p>
        </p:txBody>
      </p:sp>
      <p:sp>
        <p:nvSpPr>
          <p:cNvPr id="235" name="Google Shape;235;p19"/>
          <p:cNvSpPr txBox="1"/>
          <p:nvPr/>
        </p:nvSpPr>
        <p:spPr>
          <a:xfrm>
            <a:off x="581025" y="4224337"/>
            <a:ext cx="55908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ΡΟ</a:t>
            </a:r>
            <a:r>
              <a:rPr lang="en-US" sz="1404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Η</a:t>
            </a:r>
            <a:r>
              <a:rPr lang="en-US" sz="1404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ΑΝΑΖ</a:t>
            </a:r>
            <a:r>
              <a:rPr lang="en-US" sz="1404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Η</a:t>
            </a:r>
            <a:r>
              <a:rPr lang="en-US" sz="1404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ΤΗΣΗΣ</a:t>
            </a:r>
            <a:endParaRPr/>
          </a:p>
        </p:txBody>
      </p:sp>
      <p:sp>
        <p:nvSpPr>
          <p:cNvPr id="236" name="Google Shape;236;p19"/>
          <p:cNvSpPr txBox="1"/>
          <p:nvPr/>
        </p:nvSpPr>
        <p:spPr>
          <a:xfrm>
            <a:off x="581025" y="4443412"/>
            <a:ext cx="5324475" cy="86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Η εφαρμογή εκτελεί GEOSEARCH για άμεσα αποτελέσματα &lt; 5ms. Σε περίπτωση Cache Miss, ερωτάται η PostgreSQL και ενημερώνεται η Redis.</a:t>
            </a:r>
            <a:endParaRPr/>
          </a:p>
        </p:txBody>
      </p:sp>
      <p:pic>
        <p:nvPicPr>
          <p:cNvPr id="237" name="Google Shape;23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350442"/>
            <a:ext cx="5324475" cy="2995314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9"/>
          <p:cNvSpPr txBox="1"/>
          <p:nvPr/>
        </p:nvSpPr>
        <p:spPr>
          <a:xfrm>
            <a:off x="1009650" y="2641550"/>
            <a:ext cx="489585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0E5FF"/>
                </a:solidFill>
                <a:latin typeface="Arimo"/>
                <a:ea typeface="Arimo"/>
                <a:cs typeface="Arimo"/>
                <a:sym typeface="Arimo"/>
              </a:rPr>
              <a:t>Hash (spot:{id}):</a:t>
            </a:r>
            <a:r>
              <a:rPr lang="en-US" sz="1425" b="0" i="0" u="none" strike="noStrike" cap="none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Πλήρη δεδομένα θέσης.</a:t>
            </a:r>
            <a:endParaRPr/>
          </a:p>
        </p:txBody>
      </p:sp>
      <p:sp>
        <p:nvSpPr>
          <p:cNvPr id="239" name="Google Shape;239;p19"/>
          <p:cNvSpPr txBox="1"/>
          <p:nvPr/>
        </p:nvSpPr>
        <p:spPr>
          <a:xfrm>
            <a:off x="1009650" y="3169146"/>
            <a:ext cx="489585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0E5FF"/>
                </a:solidFill>
                <a:latin typeface="Arimo"/>
                <a:ea typeface="Arimo"/>
                <a:cs typeface="Arimo"/>
                <a:sym typeface="Arimo"/>
              </a:rPr>
              <a:t>Set (spots:by_status):</a:t>
            </a:r>
            <a:r>
              <a:rPr lang="en-US" sz="1425" b="0" i="0" u="none" strike="noStrike" cap="none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Ομαδοποίηση ανά κατάσταση.</a:t>
            </a:r>
            <a:endParaRPr/>
          </a:p>
        </p:txBody>
      </p:sp>
      <p:sp>
        <p:nvSpPr>
          <p:cNvPr id="240" name="Google Shape;240;p19"/>
          <p:cNvSpPr txBox="1"/>
          <p:nvPr/>
        </p:nvSpPr>
        <p:spPr>
          <a:xfrm>
            <a:off x="1009650" y="3696741"/>
            <a:ext cx="489585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0E5FF"/>
                </a:solidFill>
                <a:latin typeface="Arimo"/>
                <a:ea typeface="Arimo"/>
                <a:cs typeface="Arimo"/>
                <a:sym typeface="Arimo"/>
              </a:rPr>
              <a:t>Geo Sorted Set:</a:t>
            </a:r>
            <a:r>
              <a:rPr lang="en-US" sz="1425" b="0" i="0" u="none" strike="noStrike" cap="none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Αναζήτηση βάσει ακτίνας.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457325"/>
            <a:ext cx="4286250" cy="515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38775" y="1643425"/>
            <a:ext cx="6172200" cy="252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38775" y="4334275"/>
            <a:ext cx="6172200" cy="22816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924550" y="2443162"/>
            <a:ext cx="5438776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71538" y="1938331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0"/>
          <p:cNvSpPr txBox="1"/>
          <p:nvPr/>
        </p:nvSpPr>
        <p:spPr>
          <a:xfrm>
            <a:off x="2019300" y="2263002"/>
            <a:ext cx="1535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LEAFLET ENGINE</a:t>
            </a:r>
            <a:endParaRPr/>
          </a:p>
        </p:txBody>
      </p:sp>
      <p:pic>
        <p:nvPicPr>
          <p:cNvPr id="252" name="Google Shape;252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71563" y="3633481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0"/>
          <p:cNvSpPr txBox="1"/>
          <p:nvPr/>
        </p:nvSpPr>
        <p:spPr>
          <a:xfrm>
            <a:off x="2019300" y="3932688"/>
            <a:ext cx="2411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REAL-TIME WEBSOCKETS</a:t>
            </a:r>
            <a:endParaRPr/>
          </a:p>
        </p:txBody>
      </p:sp>
      <p:pic>
        <p:nvPicPr>
          <p:cNvPr id="254" name="Google Shape;254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71550" y="5328631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0"/>
          <p:cNvSpPr txBox="1"/>
          <p:nvPr/>
        </p:nvSpPr>
        <p:spPr>
          <a:xfrm>
            <a:off x="2019300" y="5653300"/>
            <a:ext cx="19428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SECURE AUTH (JWT)</a:t>
            </a:r>
            <a:endParaRPr/>
          </a:p>
        </p:txBody>
      </p:sp>
      <p:sp>
        <p:nvSpPr>
          <p:cNvPr id="256" name="Google Shape;256;p20"/>
          <p:cNvSpPr txBox="1"/>
          <p:nvPr/>
        </p:nvSpPr>
        <p:spPr>
          <a:xfrm>
            <a:off x="5991225" y="1704975"/>
            <a:ext cx="5640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E5FF"/>
                </a:solidFill>
                <a:latin typeface="Montserrat"/>
                <a:ea typeface="Montserrat"/>
                <a:cs typeface="Montserrat"/>
                <a:sym typeface="Montserrat"/>
              </a:rPr>
              <a:t>Χαρακτηριστικά Χάρτη</a:t>
            </a:r>
            <a:endParaRPr/>
          </a:p>
        </p:txBody>
      </p:sp>
      <p:sp>
        <p:nvSpPr>
          <p:cNvPr id="257" name="Google Shape;257;p20"/>
          <p:cNvSpPr txBox="1"/>
          <p:nvPr/>
        </p:nvSpPr>
        <p:spPr>
          <a:xfrm>
            <a:off x="6021275" y="4457712"/>
            <a:ext cx="5580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E5FF"/>
                </a:solidFill>
                <a:latin typeface="Montserrat"/>
                <a:ea typeface="Montserrat"/>
                <a:cs typeface="Montserrat"/>
                <a:sym typeface="Montserrat"/>
              </a:rPr>
              <a:t>Λειτουργίες Χρήστη &amp; Admin</a:t>
            </a:r>
            <a:endParaRPr/>
          </a:p>
        </p:txBody>
      </p:sp>
      <p:pic>
        <p:nvPicPr>
          <p:cNvPr id="258" name="Google Shape;258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85875" y="2176456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257300" y="3871606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162050" y="5566756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0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686425" y="1728787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0"/>
          <p:cNvSpPr txBox="1"/>
          <p:nvPr/>
        </p:nvSpPr>
        <p:spPr>
          <a:xfrm>
            <a:off x="5924550" y="2105025"/>
            <a:ext cx="54387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Χρωματική Κωδικοποίηση:</a:t>
            </a:r>
            <a:endParaRPr/>
          </a:p>
        </p:txBody>
      </p:sp>
      <p:sp>
        <p:nvSpPr>
          <p:cNvPr id="263" name="Google Shape;263;p20"/>
          <p:cNvSpPr txBox="1"/>
          <p:nvPr/>
        </p:nvSpPr>
        <p:spPr>
          <a:xfrm>
            <a:off x="5924550" y="2947987"/>
            <a:ext cx="5438700" cy="4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Φόρτωση Viewport:</a:t>
            </a:r>
            <a:r>
              <a:rPr lang="en-US" sz="1275" b="0" i="0" u="none" strike="noStrike" cap="none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Έξυπνη ανάκτηση μόνο των ορατών θέσεων (έως 200) για βελτιστοποιημένη απόδοση.</a:t>
            </a:r>
            <a:endParaRPr/>
          </a:p>
        </p:txBody>
      </p:sp>
      <p:sp>
        <p:nvSpPr>
          <p:cNvPr id="264" name="Google Shape;264;p20"/>
          <p:cNvSpPr txBox="1"/>
          <p:nvPr/>
        </p:nvSpPr>
        <p:spPr>
          <a:xfrm>
            <a:off x="5924550" y="3548062"/>
            <a:ext cx="5438700" cy="4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Προσαρμοστικότητα:</a:t>
            </a:r>
            <a:r>
              <a:rPr lang="en-US" sz="1275" b="0" i="0" u="none" strike="noStrike" cap="none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Dark/Light mode (OpenStreetMap/CartoDB) και ομαλό "fly-to" animation.</a:t>
            </a:r>
            <a:endParaRPr/>
          </a:p>
        </p:txBody>
      </p:sp>
      <p:pic>
        <p:nvPicPr>
          <p:cNvPr id="265" name="Google Shape;265;p20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5657850" y="4457688"/>
            <a:ext cx="2667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0"/>
          <p:cNvSpPr txBox="1"/>
          <p:nvPr/>
        </p:nvSpPr>
        <p:spPr>
          <a:xfrm>
            <a:off x="5895963" y="4838125"/>
            <a:ext cx="5438700" cy="4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Αλληλεπίδραση:</a:t>
            </a:r>
            <a:r>
              <a:rPr lang="en-US" sz="1275" b="0" i="0" u="none" strike="noStrike" cap="none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Popup με επιλογές για άμεση Κράτηση (Reserve) ή Πλοήγηση μέσω Google Maps.</a:t>
            </a:r>
            <a:endParaRPr/>
          </a:p>
        </p:txBody>
      </p:sp>
      <p:sp>
        <p:nvSpPr>
          <p:cNvPr id="267" name="Google Shape;267;p20"/>
          <p:cNvSpPr txBox="1"/>
          <p:nvPr/>
        </p:nvSpPr>
        <p:spPr>
          <a:xfrm>
            <a:off x="5895963" y="5454962"/>
            <a:ext cx="5438700" cy="4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Εξατομίκευση:</a:t>
            </a:r>
            <a:r>
              <a:rPr lang="en-US" sz="1275" b="0" i="0" u="none" strike="noStrike" cap="none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Λίστα αγαπημένων, ιστορικό κρατήσεων και δυναμικά φίλτρα (Πόλη, Περιοχή, Κόστος).</a:t>
            </a:r>
            <a:endParaRPr/>
          </a:p>
        </p:txBody>
      </p:sp>
      <p:sp>
        <p:nvSpPr>
          <p:cNvPr id="268" name="Google Shape;268;p20"/>
          <p:cNvSpPr txBox="1"/>
          <p:nvPr/>
        </p:nvSpPr>
        <p:spPr>
          <a:xfrm>
            <a:off x="5895938" y="6064737"/>
            <a:ext cx="5438700" cy="4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Admin Dashboard:</a:t>
            </a:r>
            <a:r>
              <a:rPr lang="en-US" sz="1275" b="0" i="0" u="none" strike="noStrike" cap="none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Πλήρης έλεγχος (CRUD) των θέσεων και δυναμικός ορισμός τιμολόγησης ανά ώρα.</a:t>
            </a:r>
            <a:endParaRPr/>
          </a:p>
        </p:txBody>
      </p:sp>
      <p:sp>
        <p:nvSpPr>
          <p:cNvPr id="269" name="Google Shape;269;p20"/>
          <p:cNvSpPr txBox="1"/>
          <p:nvPr/>
        </p:nvSpPr>
        <p:spPr>
          <a:xfrm>
            <a:off x="5924550" y="7129462"/>
            <a:ext cx="54387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Status Badge:</a:t>
            </a:r>
            <a:r>
              <a:rPr lang="en-US" sz="1275" b="0" i="0" u="none" strike="noStrike" cap="none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Ζωντανή ένδειξη σύνδεσης WebSocket (connected/disconnected).</a:t>
            </a:r>
            <a:endParaRPr/>
          </a:p>
        </p:txBody>
      </p:sp>
      <p:sp>
        <p:nvSpPr>
          <p:cNvPr id="270" name="Google Shape;270;p20"/>
          <p:cNvSpPr txBox="1"/>
          <p:nvPr/>
        </p:nvSpPr>
        <p:spPr>
          <a:xfrm>
            <a:off x="5686425" y="2105025"/>
            <a:ext cx="1620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0E5FF"/>
                </a:solidFill>
                <a:latin typeface="Arimo"/>
                <a:ea typeface="Arimo"/>
                <a:cs typeface="Arimo"/>
                <a:sym typeface="Arimo"/>
              </a:rPr>
              <a:t>→</a:t>
            </a:r>
            <a:endParaRPr/>
          </a:p>
        </p:txBody>
      </p:sp>
      <p:sp>
        <p:nvSpPr>
          <p:cNvPr id="271" name="Google Shape;271;p20"/>
          <p:cNvSpPr txBox="1"/>
          <p:nvPr/>
        </p:nvSpPr>
        <p:spPr>
          <a:xfrm>
            <a:off x="5686425" y="2947987"/>
            <a:ext cx="1620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0E5FF"/>
                </a:solidFill>
                <a:latin typeface="Arimo"/>
                <a:ea typeface="Arimo"/>
                <a:cs typeface="Arimo"/>
                <a:sym typeface="Arimo"/>
              </a:rPr>
              <a:t>→</a:t>
            </a:r>
            <a:endParaRPr/>
          </a:p>
        </p:txBody>
      </p:sp>
      <p:sp>
        <p:nvSpPr>
          <p:cNvPr id="272" name="Google Shape;272;p20"/>
          <p:cNvSpPr txBox="1"/>
          <p:nvPr/>
        </p:nvSpPr>
        <p:spPr>
          <a:xfrm>
            <a:off x="5686425" y="3548062"/>
            <a:ext cx="1620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0E5FF"/>
                </a:solidFill>
                <a:latin typeface="Arimo"/>
                <a:ea typeface="Arimo"/>
                <a:cs typeface="Arimo"/>
                <a:sym typeface="Arimo"/>
              </a:rPr>
              <a:t>→</a:t>
            </a:r>
            <a:endParaRPr/>
          </a:p>
        </p:txBody>
      </p:sp>
      <p:sp>
        <p:nvSpPr>
          <p:cNvPr id="273" name="Google Shape;273;p20"/>
          <p:cNvSpPr txBox="1"/>
          <p:nvPr/>
        </p:nvSpPr>
        <p:spPr>
          <a:xfrm>
            <a:off x="5686388" y="4823462"/>
            <a:ext cx="1620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0E5FF"/>
                </a:solidFill>
                <a:latin typeface="Arimo"/>
                <a:ea typeface="Arimo"/>
                <a:cs typeface="Arimo"/>
                <a:sym typeface="Arimo"/>
              </a:rPr>
              <a:t>→</a:t>
            </a:r>
            <a:endParaRPr/>
          </a:p>
        </p:txBody>
      </p:sp>
      <p:sp>
        <p:nvSpPr>
          <p:cNvPr id="274" name="Google Shape;274;p20"/>
          <p:cNvSpPr txBox="1"/>
          <p:nvPr/>
        </p:nvSpPr>
        <p:spPr>
          <a:xfrm>
            <a:off x="5686425" y="5445312"/>
            <a:ext cx="1620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0E5FF"/>
                </a:solidFill>
                <a:latin typeface="Arimo"/>
                <a:ea typeface="Arimo"/>
                <a:cs typeface="Arimo"/>
                <a:sym typeface="Arimo"/>
              </a:rPr>
              <a:t>→</a:t>
            </a:r>
            <a:endParaRPr/>
          </a:p>
        </p:txBody>
      </p:sp>
      <p:sp>
        <p:nvSpPr>
          <p:cNvPr id="275" name="Google Shape;275;p20"/>
          <p:cNvSpPr txBox="1"/>
          <p:nvPr/>
        </p:nvSpPr>
        <p:spPr>
          <a:xfrm>
            <a:off x="5686425" y="6047412"/>
            <a:ext cx="1620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0E5FF"/>
                </a:solidFill>
                <a:latin typeface="Arimo"/>
                <a:ea typeface="Arimo"/>
                <a:cs typeface="Arimo"/>
                <a:sym typeface="Arimo"/>
              </a:rPr>
              <a:t>→</a:t>
            </a:r>
            <a:endParaRPr/>
          </a:p>
        </p:txBody>
      </p:sp>
      <p:sp>
        <p:nvSpPr>
          <p:cNvPr id="276" name="Google Shape;276;p20"/>
          <p:cNvSpPr txBox="1"/>
          <p:nvPr/>
        </p:nvSpPr>
        <p:spPr>
          <a:xfrm>
            <a:off x="5686425" y="7129462"/>
            <a:ext cx="162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0E5FF"/>
                </a:solidFill>
                <a:latin typeface="Arimo"/>
                <a:ea typeface="Arimo"/>
                <a:cs typeface="Arimo"/>
                <a:sym typeface="Arimo"/>
              </a:rPr>
              <a:t>→</a:t>
            </a:r>
            <a:endParaRPr/>
          </a:p>
        </p:txBody>
      </p:sp>
      <p:sp>
        <p:nvSpPr>
          <p:cNvPr id="277" name="Google Shape;277;p20"/>
          <p:cNvSpPr txBox="1"/>
          <p:nvPr/>
        </p:nvSpPr>
        <p:spPr>
          <a:xfrm>
            <a:off x="771525" y="581025"/>
            <a:ext cx="11381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+mj-lt"/>
                <a:ea typeface="Montserrat"/>
                <a:cs typeface="Montserrat"/>
                <a:sym typeface="Montserrat"/>
              </a:rPr>
              <a:t>FRONTEND: ΔΙΑΔΡΑΣΤΙΚ</a:t>
            </a:r>
            <a:r>
              <a:rPr lang="en-US" sz="3150" b="1">
                <a:solidFill>
                  <a:srgbClr val="FFFFFF"/>
                </a:solidFill>
                <a:latin typeface="+mj-lt"/>
                <a:ea typeface="Montserrat"/>
                <a:cs typeface="Montserrat"/>
                <a:sym typeface="Montserrat"/>
              </a:rPr>
              <a:t>Ο</a:t>
            </a:r>
            <a:r>
              <a:rPr lang="en-US" sz="3150" b="1" i="0" u="none" strike="noStrike" cap="none">
                <a:solidFill>
                  <a:srgbClr val="FFFFFF"/>
                </a:solidFill>
                <a:latin typeface="+mj-lt"/>
                <a:ea typeface="Montserrat"/>
                <a:cs typeface="Montserrat"/>
                <a:sym typeface="Montserrat"/>
              </a:rPr>
              <a:t>Σ Χ</a:t>
            </a:r>
            <a:r>
              <a:rPr lang="en-US" sz="3150" b="1">
                <a:solidFill>
                  <a:srgbClr val="FFFFFF"/>
                </a:solidFill>
                <a:latin typeface="+mj-lt"/>
                <a:ea typeface="Montserrat"/>
                <a:cs typeface="Montserrat"/>
                <a:sym typeface="Montserrat"/>
              </a:rPr>
              <a:t>Α</a:t>
            </a:r>
            <a:r>
              <a:rPr lang="en-US" sz="3150" b="1" i="0" u="none" strike="noStrike" cap="none">
                <a:solidFill>
                  <a:srgbClr val="FFFFFF"/>
                </a:solidFill>
                <a:latin typeface="+mj-lt"/>
                <a:ea typeface="Montserrat"/>
                <a:cs typeface="Montserrat"/>
                <a:sym typeface="Montserrat"/>
              </a:rPr>
              <a:t>ΡΤΗΣ &amp; ΛΕΙΤΟΥΡΓ</a:t>
            </a:r>
            <a:r>
              <a:rPr lang="en-US" sz="3150" b="1">
                <a:solidFill>
                  <a:srgbClr val="FFFFFF"/>
                </a:solidFill>
                <a:latin typeface="+mj-lt"/>
                <a:ea typeface="Montserrat"/>
                <a:cs typeface="Montserrat"/>
                <a:sym typeface="Montserrat"/>
              </a:rPr>
              <a:t>Ι</a:t>
            </a:r>
            <a:r>
              <a:rPr lang="en-US" sz="3150" b="1" i="0" u="none" strike="noStrike" cap="none">
                <a:solidFill>
                  <a:srgbClr val="FFFFFF"/>
                </a:solidFill>
                <a:latin typeface="+mj-lt"/>
                <a:ea typeface="Montserrat"/>
                <a:cs typeface="Montserrat"/>
                <a:sym typeface="Montserrat"/>
              </a:rPr>
              <a:t>ΕΣ</a:t>
            </a:r>
            <a:endParaRPr>
              <a:latin typeface="+mj-lt"/>
            </a:endParaRPr>
          </a:p>
        </p:txBody>
      </p:sp>
      <p:sp>
        <p:nvSpPr>
          <p:cNvPr id="278" name="Google Shape;278;p20"/>
          <p:cNvSpPr/>
          <p:nvPr/>
        </p:nvSpPr>
        <p:spPr>
          <a:xfrm>
            <a:off x="581025" y="581025"/>
            <a:ext cx="57300" cy="4953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4" y="2020341"/>
            <a:ext cx="5259601" cy="19410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51373" y="2020341"/>
            <a:ext cx="5259601" cy="1941016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1"/>
          <p:cNvSpPr txBox="1"/>
          <p:nvPr/>
        </p:nvSpPr>
        <p:spPr>
          <a:xfrm>
            <a:off x="771525" y="581025"/>
            <a:ext cx="11381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ΑΥΘΕΝΤΙΚΟΠΟ</a:t>
            </a:r>
            <a:r>
              <a:rPr lang="en-US" sz="315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Ι</a:t>
            </a:r>
            <a:r>
              <a:rPr lang="en-US" sz="315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ΗΣΗ &amp; ΑΣΦ</a:t>
            </a:r>
            <a:r>
              <a:rPr lang="en-US" sz="315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Α</a:t>
            </a:r>
            <a:r>
              <a:rPr lang="en-US" sz="315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ΛΕΙΑ</a:t>
            </a:r>
            <a:endParaRPr/>
          </a:p>
        </p:txBody>
      </p:sp>
      <p:sp>
        <p:nvSpPr>
          <p:cNvPr id="287" name="Google Shape;287;p21"/>
          <p:cNvSpPr/>
          <p:nvPr/>
        </p:nvSpPr>
        <p:spPr>
          <a:xfrm>
            <a:off x="581025" y="581025"/>
            <a:ext cx="57150" cy="4953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8" name="Google Shape;288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99172" y="4358319"/>
            <a:ext cx="3770936" cy="1918656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1"/>
          <p:cNvSpPr txBox="1"/>
          <p:nvPr/>
        </p:nvSpPr>
        <p:spPr>
          <a:xfrm>
            <a:off x="2729805" y="2906166"/>
            <a:ext cx="1140142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JWT FLOW</a:t>
            </a:r>
            <a:endParaRPr dirty="0"/>
          </a:p>
        </p:txBody>
      </p:sp>
      <p:sp>
        <p:nvSpPr>
          <p:cNvPr id="290" name="Google Shape;290;p21"/>
          <p:cNvSpPr txBox="1"/>
          <p:nvPr/>
        </p:nvSpPr>
        <p:spPr>
          <a:xfrm>
            <a:off x="781049" y="3239541"/>
            <a:ext cx="4816561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Verified </a:t>
            </a:r>
            <a:r>
              <a:rPr lang="en-US" sz="1050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Bcrypt</a:t>
            </a:r>
            <a:r>
              <a:rPr lang="en-US" sz="1050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hashes. Bearer tokens </a:t>
            </a:r>
            <a:r>
              <a:rPr lang="en-US" sz="1050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στο</a:t>
            </a:r>
            <a:r>
              <a:rPr lang="en-US" sz="1050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050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localStorage</a:t>
            </a:r>
            <a:r>
              <a:rPr lang="en-US" sz="1050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. </a:t>
            </a:r>
            <a:r>
              <a:rPr lang="en-US" sz="1050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FastAPI</a:t>
            </a:r>
            <a:r>
              <a:rPr lang="en-US" sz="1050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Depends() </a:t>
            </a:r>
            <a:r>
              <a:rPr lang="en-US" sz="1050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γι</a:t>
            </a:r>
            <a:r>
              <a:rPr lang="en-US" sz="1050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α π</a:t>
            </a:r>
            <a:r>
              <a:rPr lang="en-US" sz="1050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ροστ</a:t>
            </a:r>
            <a:r>
              <a:rPr lang="en-US" sz="1050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α</a:t>
            </a:r>
            <a:r>
              <a:rPr lang="en-US" sz="1050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σί</a:t>
            </a:r>
            <a:r>
              <a:rPr lang="en-US" sz="1050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α endpoints.</a:t>
            </a:r>
            <a:endParaRPr dirty="0"/>
          </a:p>
        </p:txBody>
      </p:sp>
      <p:sp>
        <p:nvSpPr>
          <p:cNvPr id="291" name="Google Shape;291;p21"/>
          <p:cNvSpPr txBox="1"/>
          <p:nvPr/>
        </p:nvSpPr>
        <p:spPr>
          <a:xfrm>
            <a:off x="8279521" y="2885431"/>
            <a:ext cx="18561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Μ</a:t>
            </a:r>
            <a:r>
              <a:rPr lang="en-US" sz="135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Ε</a:t>
            </a:r>
            <a:r>
              <a:rPr lang="en-US" sz="135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ΤΡΑ ΑΣΦΑΛΕ</a:t>
            </a:r>
            <a:r>
              <a:rPr lang="en-US" sz="135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Ι</a:t>
            </a:r>
            <a:r>
              <a:rPr lang="en-US" sz="135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ΑΣ</a:t>
            </a:r>
            <a:endParaRPr dirty="0"/>
          </a:p>
        </p:txBody>
      </p:sp>
      <p:sp>
        <p:nvSpPr>
          <p:cNvPr id="292" name="Google Shape;292;p21"/>
          <p:cNvSpPr txBox="1"/>
          <p:nvPr/>
        </p:nvSpPr>
        <p:spPr>
          <a:xfrm>
            <a:off x="6512012" y="3239541"/>
            <a:ext cx="4898998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Προστ</a:t>
            </a:r>
            <a:r>
              <a:rPr lang="en-US" sz="1050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α</a:t>
            </a:r>
            <a:r>
              <a:rPr lang="en-US" sz="1050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σί</a:t>
            </a:r>
            <a:r>
              <a:rPr lang="en-US" sz="1050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α απ</a:t>
            </a:r>
            <a:r>
              <a:rPr lang="en-US" sz="1050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ό</a:t>
            </a:r>
            <a:r>
              <a:rPr lang="en-US" sz="1050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User Enumeration. CORS π</a:t>
            </a:r>
            <a:r>
              <a:rPr lang="en-US" sz="1050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εριορισμένο</a:t>
            </a:r>
            <a:r>
              <a:rPr lang="en-US" sz="1050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050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στο</a:t>
            </a:r>
            <a:r>
              <a:rPr lang="en-US" sz="1050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localhost:5173. Admin-only endpoints.</a:t>
            </a:r>
            <a:endParaRPr dirty="0"/>
          </a:p>
        </p:txBody>
      </p:sp>
      <p:pic>
        <p:nvPicPr>
          <p:cNvPr id="293" name="Google Shape;293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109376" y="2325141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981173" y="2325141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1525" y="1976437"/>
            <a:ext cx="636270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2557462"/>
            <a:ext cx="636270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3128962"/>
            <a:ext cx="636270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3700462"/>
            <a:ext cx="636270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4271962"/>
            <a:ext cx="636270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4843462"/>
            <a:ext cx="636270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5414962"/>
            <a:ext cx="63627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2"/>
          <p:cNvSpPr txBox="1"/>
          <p:nvPr/>
        </p:nvSpPr>
        <p:spPr>
          <a:xfrm>
            <a:off x="1152525" y="581025"/>
            <a:ext cx="10781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+mj-lt"/>
                <a:ea typeface="Montserrat ExtraBold"/>
                <a:cs typeface="Montserrat ExtraBold"/>
                <a:sym typeface="Montserrat ExtraBold"/>
              </a:rPr>
              <a:t>ΑΝΑΠΤΥΞΗ &amp; ΥΠΟΔΟΜΗ (DOCKER)</a:t>
            </a:r>
            <a:endParaRPr b="1">
              <a:latin typeface="+mj-lt"/>
            </a:endParaRPr>
          </a:p>
        </p:txBody>
      </p:sp>
      <p:sp>
        <p:nvSpPr>
          <p:cNvPr id="307" name="Google Shape;307;p22"/>
          <p:cNvSpPr txBox="1"/>
          <p:nvPr/>
        </p:nvSpPr>
        <p:spPr>
          <a:xfrm>
            <a:off x="1009650" y="2119312"/>
            <a:ext cx="20181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0E5FF"/>
                </a:solidFill>
                <a:latin typeface="Montserrat"/>
                <a:ea typeface="Montserrat"/>
                <a:cs typeface="Montserrat"/>
                <a:sym typeface="Montserrat"/>
              </a:rPr>
              <a:t>ΥΠΗΡΕΣΊΑ</a:t>
            </a:r>
            <a:endParaRPr/>
          </a:p>
        </p:txBody>
      </p:sp>
      <p:sp>
        <p:nvSpPr>
          <p:cNvPr id="308" name="Google Shape;308;p22"/>
          <p:cNvSpPr txBox="1"/>
          <p:nvPr/>
        </p:nvSpPr>
        <p:spPr>
          <a:xfrm>
            <a:off x="3027759" y="2119312"/>
            <a:ext cx="25227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0E5FF"/>
                </a:solidFill>
                <a:latin typeface="Montserrat"/>
                <a:ea typeface="Montserrat"/>
                <a:cs typeface="Montserrat"/>
                <a:sym typeface="Montserrat"/>
              </a:rPr>
              <a:t>IMAGE</a:t>
            </a:r>
            <a:endParaRPr/>
          </a:p>
        </p:txBody>
      </p:sp>
      <p:sp>
        <p:nvSpPr>
          <p:cNvPr id="309" name="Google Shape;309;p22"/>
          <p:cNvSpPr txBox="1"/>
          <p:nvPr/>
        </p:nvSpPr>
        <p:spPr>
          <a:xfrm>
            <a:off x="5550544" y="2119312"/>
            <a:ext cx="11550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0E5FF"/>
                </a:solidFill>
                <a:latin typeface="Montserrat"/>
                <a:ea typeface="Montserrat"/>
                <a:cs typeface="Montserrat"/>
                <a:sym typeface="Montserrat"/>
              </a:rPr>
              <a:t>PORT</a:t>
            </a:r>
            <a:endParaRPr/>
          </a:p>
        </p:txBody>
      </p:sp>
      <p:sp>
        <p:nvSpPr>
          <p:cNvPr id="310" name="Google Shape;310;p22"/>
          <p:cNvSpPr txBox="1"/>
          <p:nvPr/>
        </p:nvSpPr>
        <p:spPr>
          <a:xfrm>
            <a:off x="1019175" y="2700337"/>
            <a:ext cx="20115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0E5FF"/>
                </a:solidFill>
                <a:latin typeface="Arimo"/>
                <a:ea typeface="Arimo"/>
                <a:cs typeface="Arimo"/>
                <a:sym typeface="Arimo"/>
              </a:rPr>
              <a:t>PostgreSQL</a:t>
            </a:r>
            <a:endParaRPr/>
          </a:p>
        </p:txBody>
      </p:sp>
      <p:sp>
        <p:nvSpPr>
          <p:cNvPr id="311" name="Google Shape;311;p22"/>
          <p:cNvSpPr txBox="1"/>
          <p:nvPr/>
        </p:nvSpPr>
        <p:spPr>
          <a:xfrm>
            <a:off x="3030735" y="2705100"/>
            <a:ext cx="2514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postgres:16</a:t>
            </a:r>
            <a:endParaRPr/>
          </a:p>
        </p:txBody>
      </p:sp>
      <p:sp>
        <p:nvSpPr>
          <p:cNvPr id="312" name="Google Shape;312;p22"/>
          <p:cNvSpPr txBox="1"/>
          <p:nvPr/>
        </p:nvSpPr>
        <p:spPr>
          <a:xfrm>
            <a:off x="5545335" y="2719387"/>
            <a:ext cx="1150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5432</a:t>
            </a:r>
            <a:endParaRPr/>
          </a:p>
        </p:txBody>
      </p:sp>
      <p:sp>
        <p:nvSpPr>
          <p:cNvPr id="313" name="Google Shape;313;p22"/>
          <p:cNvSpPr txBox="1"/>
          <p:nvPr/>
        </p:nvSpPr>
        <p:spPr>
          <a:xfrm>
            <a:off x="1019175" y="3271837"/>
            <a:ext cx="20115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0E5FF"/>
                </a:solidFill>
                <a:latin typeface="Arimo"/>
                <a:ea typeface="Arimo"/>
                <a:cs typeface="Arimo"/>
                <a:sym typeface="Arimo"/>
              </a:rPr>
              <a:t>Redis</a:t>
            </a:r>
            <a:endParaRPr/>
          </a:p>
        </p:txBody>
      </p:sp>
      <p:sp>
        <p:nvSpPr>
          <p:cNvPr id="314" name="Google Shape;314;p22"/>
          <p:cNvSpPr txBox="1"/>
          <p:nvPr/>
        </p:nvSpPr>
        <p:spPr>
          <a:xfrm>
            <a:off x="3030735" y="3276600"/>
            <a:ext cx="2514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redis:7-alpine</a:t>
            </a:r>
            <a:endParaRPr/>
          </a:p>
        </p:txBody>
      </p:sp>
      <p:sp>
        <p:nvSpPr>
          <p:cNvPr id="315" name="Google Shape;315;p22"/>
          <p:cNvSpPr txBox="1"/>
          <p:nvPr/>
        </p:nvSpPr>
        <p:spPr>
          <a:xfrm>
            <a:off x="5545335" y="3290887"/>
            <a:ext cx="1150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6379</a:t>
            </a:r>
            <a:endParaRPr/>
          </a:p>
        </p:txBody>
      </p:sp>
      <p:sp>
        <p:nvSpPr>
          <p:cNvPr id="316" name="Google Shape;316;p22"/>
          <p:cNvSpPr txBox="1"/>
          <p:nvPr/>
        </p:nvSpPr>
        <p:spPr>
          <a:xfrm>
            <a:off x="1019175" y="3843337"/>
            <a:ext cx="20115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0E5FF"/>
                </a:solidFill>
                <a:latin typeface="Arimo"/>
                <a:ea typeface="Arimo"/>
                <a:cs typeface="Arimo"/>
                <a:sym typeface="Arimo"/>
              </a:rPr>
              <a:t>Mosquitto</a:t>
            </a:r>
            <a:endParaRPr/>
          </a:p>
        </p:txBody>
      </p:sp>
      <p:sp>
        <p:nvSpPr>
          <p:cNvPr id="317" name="Google Shape;317;p22"/>
          <p:cNvSpPr txBox="1"/>
          <p:nvPr/>
        </p:nvSpPr>
        <p:spPr>
          <a:xfrm>
            <a:off x="3030735" y="3848100"/>
            <a:ext cx="2514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eclipse-mosquitto:2</a:t>
            </a:r>
            <a:endParaRPr/>
          </a:p>
        </p:txBody>
      </p:sp>
      <p:sp>
        <p:nvSpPr>
          <p:cNvPr id="318" name="Google Shape;318;p22"/>
          <p:cNvSpPr txBox="1"/>
          <p:nvPr/>
        </p:nvSpPr>
        <p:spPr>
          <a:xfrm>
            <a:off x="5545335" y="3862387"/>
            <a:ext cx="1150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1883</a:t>
            </a:r>
            <a:endParaRPr/>
          </a:p>
        </p:txBody>
      </p:sp>
      <p:sp>
        <p:nvSpPr>
          <p:cNvPr id="319" name="Google Shape;319;p22"/>
          <p:cNvSpPr txBox="1"/>
          <p:nvPr/>
        </p:nvSpPr>
        <p:spPr>
          <a:xfrm>
            <a:off x="1019175" y="4414837"/>
            <a:ext cx="20115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0E5FF"/>
                </a:solidFill>
                <a:latin typeface="Arimo"/>
                <a:ea typeface="Arimo"/>
                <a:cs typeface="Arimo"/>
                <a:sym typeface="Arimo"/>
              </a:rPr>
              <a:t>Backend</a:t>
            </a:r>
            <a:endParaRPr/>
          </a:p>
        </p:txBody>
      </p:sp>
      <p:sp>
        <p:nvSpPr>
          <p:cNvPr id="320" name="Google Shape;320;p22"/>
          <p:cNvSpPr txBox="1"/>
          <p:nvPr/>
        </p:nvSpPr>
        <p:spPr>
          <a:xfrm>
            <a:off x="3030735" y="4419600"/>
            <a:ext cx="2514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Custom (Python 3.11)</a:t>
            </a:r>
            <a:endParaRPr/>
          </a:p>
        </p:txBody>
      </p:sp>
      <p:sp>
        <p:nvSpPr>
          <p:cNvPr id="321" name="Google Shape;321;p22"/>
          <p:cNvSpPr txBox="1"/>
          <p:nvPr/>
        </p:nvSpPr>
        <p:spPr>
          <a:xfrm>
            <a:off x="5545335" y="4433887"/>
            <a:ext cx="1150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8000</a:t>
            </a:r>
            <a:endParaRPr/>
          </a:p>
        </p:txBody>
      </p:sp>
      <p:sp>
        <p:nvSpPr>
          <p:cNvPr id="322" name="Google Shape;322;p22"/>
          <p:cNvSpPr txBox="1"/>
          <p:nvPr/>
        </p:nvSpPr>
        <p:spPr>
          <a:xfrm>
            <a:off x="1019175" y="4986337"/>
            <a:ext cx="20115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0E5FF"/>
                </a:solidFill>
                <a:latin typeface="Arimo"/>
                <a:ea typeface="Arimo"/>
                <a:cs typeface="Arimo"/>
                <a:sym typeface="Arimo"/>
              </a:rPr>
              <a:t>Frontend</a:t>
            </a:r>
            <a:endParaRPr/>
          </a:p>
        </p:txBody>
      </p:sp>
      <p:sp>
        <p:nvSpPr>
          <p:cNvPr id="323" name="Google Shape;323;p22"/>
          <p:cNvSpPr txBox="1"/>
          <p:nvPr/>
        </p:nvSpPr>
        <p:spPr>
          <a:xfrm>
            <a:off x="3030735" y="4991100"/>
            <a:ext cx="2514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Custom (Node 20)</a:t>
            </a:r>
            <a:endParaRPr/>
          </a:p>
        </p:txBody>
      </p:sp>
      <p:sp>
        <p:nvSpPr>
          <p:cNvPr id="324" name="Google Shape;324;p22"/>
          <p:cNvSpPr txBox="1"/>
          <p:nvPr/>
        </p:nvSpPr>
        <p:spPr>
          <a:xfrm>
            <a:off x="5545335" y="5005387"/>
            <a:ext cx="1150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5173</a:t>
            </a:r>
            <a:endParaRPr/>
          </a:p>
        </p:txBody>
      </p:sp>
      <p:sp>
        <p:nvSpPr>
          <p:cNvPr id="325" name="Google Shape;325;p22"/>
          <p:cNvSpPr txBox="1"/>
          <p:nvPr/>
        </p:nvSpPr>
        <p:spPr>
          <a:xfrm>
            <a:off x="1019175" y="5557837"/>
            <a:ext cx="20115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0E5FF"/>
                </a:solidFill>
                <a:latin typeface="Arimo"/>
                <a:ea typeface="Arimo"/>
                <a:cs typeface="Arimo"/>
                <a:sym typeface="Arimo"/>
              </a:rPr>
              <a:t>RedisInsight</a:t>
            </a:r>
            <a:endParaRPr/>
          </a:p>
        </p:txBody>
      </p:sp>
      <p:sp>
        <p:nvSpPr>
          <p:cNvPr id="326" name="Google Shape;326;p22"/>
          <p:cNvSpPr txBox="1"/>
          <p:nvPr/>
        </p:nvSpPr>
        <p:spPr>
          <a:xfrm>
            <a:off x="3030735" y="5562600"/>
            <a:ext cx="2514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redis/redisinsight</a:t>
            </a:r>
            <a:endParaRPr/>
          </a:p>
        </p:txBody>
      </p:sp>
      <p:sp>
        <p:nvSpPr>
          <p:cNvPr id="327" name="Google Shape;327;p22"/>
          <p:cNvSpPr txBox="1"/>
          <p:nvPr/>
        </p:nvSpPr>
        <p:spPr>
          <a:xfrm>
            <a:off x="5545335" y="5576887"/>
            <a:ext cx="1150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5540</a:t>
            </a:r>
            <a:endParaRPr/>
          </a:p>
        </p:txBody>
      </p:sp>
      <p:pic>
        <p:nvPicPr>
          <p:cNvPr id="328" name="Google Shape;328;p22" title="wmremove-transforme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34225" y="1328175"/>
            <a:ext cx="5154401" cy="50149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3"/>
          <p:cNvSpPr txBox="1"/>
          <p:nvPr/>
        </p:nvSpPr>
        <p:spPr>
          <a:xfrm>
            <a:off x="771525" y="581025"/>
            <a:ext cx="11381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+mj-lt"/>
                <a:ea typeface="Montserrat"/>
                <a:cs typeface="Montserrat"/>
                <a:sym typeface="Montserrat"/>
              </a:rPr>
              <a:t>ΑΠΟΤΕΛ</a:t>
            </a:r>
            <a:r>
              <a:rPr lang="en-US" sz="3150" b="1">
                <a:solidFill>
                  <a:srgbClr val="FFFFFF"/>
                </a:solidFill>
                <a:latin typeface="+mj-lt"/>
                <a:ea typeface="Montserrat"/>
                <a:cs typeface="Montserrat"/>
                <a:sym typeface="Montserrat"/>
              </a:rPr>
              <a:t>Ε</a:t>
            </a:r>
            <a:r>
              <a:rPr lang="en-US" sz="3150" b="1" i="0" u="none" strike="noStrike" cap="none">
                <a:solidFill>
                  <a:srgbClr val="FFFFFF"/>
                </a:solidFill>
                <a:latin typeface="+mj-lt"/>
                <a:ea typeface="Montserrat"/>
                <a:cs typeface="Montserrat"/>
                <a:sym typeface="Montserrat"/>
              </a:rPr>
              <a:t>ΣΜΑΤΑ &amp; ΕΠΙΤΕ</a:t>
            </a:r>
            <a:r>
              <a:rPr lang="en-US" sz="3150" b="1">
                <a:solidFill>
                  <a:srgbClr val="FFFFFF"/>
                </a:solidFill>
                <a:latin typeface="+mj-lt"/>
                <a:ea typeface="Montserrat"/>
                <a:cs typeface="Montserrat"/>
                <a:sym typeface="Montserrat"/>
              </a:rPr>
              <a:t>Υ</a:t>
            </a:r>
            <a:r>
              <a:rPr lang="en-US" sz="3150" b="1" i="0" u="none" strike="noStrike" cap="none">
                <a:solidFill>
                  <a:srgbClr val="FFFFFF"/>
                </a:solidFill>
                <a:latin typeface="+mj-lt"/>
                <a:ea typeface="Montserrat"/>
                <a:cs typeface="Montserrat"/>
                <a:sym typeface="Montserrat"/>
              </a:rPr>
              <a:t>ΓΜΑΤΑ</a:t>
            </a:r>
            <a:endParaRPr>
              <a:latin typeface="+mj-lt"/>
            </a:endParaRPr>
          </a:p>
        </p:txBody>
      </p:sp>
      <p:sp>
        <p:nvSpPr>
          <p:cNvPr id="335" name="Google Shape;335;p23"/>
          <p:cNvSpPr/>
          <p:nvPr/>
        </p:nvSpPr>
        <p:spPr>
          <a:xfrm>
            <a:off x="581025" y="581025"/>
            <a:ext cx="57150" cy="4953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3"/>
          <p:cNvSpPr txBox="1"/>
          <p:nvPr/>
        </p:nvSpPr>
        <p:spPr>
          <a:xfrm>
            <a:off x="1009650" y="4163466"/>
            <a:ext cx="49911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Επιτυχής διαχείριση αιχμών φορτίου (Batch processing).</a:t>
            </a:r>
            <a:endParaRPr/>
          </a:p>
        </p:txBody>
      </p:sp>
      <p:sp>
        <p:nvSpPr>
          <p:cNvPr id="337" name="Google Shape;337;p23"/>
          <p:cNvSpPr txBox="1"/>
          <p:nvPr/>
        </p:nvSpPr>
        <p:spPr>
          <a:xfrm>
            <a:off x="6619875" y="4163466"/>
            <a:ext cx="49911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Πλήρης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25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κύκλος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25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κράτησης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25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με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α</a:t>
            </a:r>
            <a:r>
              <a:rPr lang="en-US" sz="1425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υτόμ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α</a:t>
            </a:r>
            <a:r>
              <a:rPr lang="en-US" sz="1425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τη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25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λήξη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30s.</a:t>
            </a:r>
            <a:endParaRPr dirty="0"/>
          </a:p>
        </p:txBody>
      </p:sp>
      <p:sp>
        <p:nvSpPr>
          <p:cNvPr id="338" name="Google Shape;338;p23"/>
          <p:cNvSpPr txBox="1"/>
          <p:nvPr/>
        </p:nvSpPr>
        <p:spPr>
          <a:xfrm>
            <a:off x="1009650" y="4881562"/>
            <a:ext cx="49911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Διαχωρισμός ρόλων (Admin vs User).</a:t>
            </a:r>
            <a:endParaRPr/>
          </a:p>
        </p:txBody>
      </p:sp>
      <p:sp>
        <p:nvSpPr>
          <p:cNvPr id="339" name="Google Shape;339;p23"/>
          <p:cNvSpPr txBox="1"/>
          <p:nvPr/>
        </p:nvSpPr>
        <p:spPr>
          <a:xfrm>
            <a:off x="6619875" y="4881562"/>
            <a:ext cx="49911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Βελτιστοποιημένη αναζήτηση βάσει γεωγραφικής θέσης.</a:t>
            </a:r>
            <a:endParaRPr/>
          </a:p>
        </p:txBody>
      </p:sp>
      <p:sp>
        <p:nvSpPr>
          <p:cNvPr id="340" name="Google Shape;340;p23"/>
          <p:cNvSpPr txBox="1"/>
          <p:nvPr/>
        </p:nvSpPr>
        <p:spPr>
          <a:xfrm>
            <a:off x="1266825" y="2325141"/>
            <a:ext cx="200025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00E5FF"/>
                </a:solidFill>
                <a:latin typeface="Arimo"/>
                <a:ea typeface="Arimo"/>
                <a:cs typeface="Arimo"/>
                <a:sym typeface="Arimo"/>
              </a:rPr>
              <a:t>&lt;1s</a:t>
            </a:r>
            <a:endParaRPr/>
          </a:p>
        </p:txBody>
      </p:sp>
      <p:sp>
        <p:nvSpPr>
          <p:cNvPr id="341" name="Google Shape;341;p23"/>
          <p:cNvSpPr txBox="1"/>
          <p:nvPr/>
        </p:nvSpPr>
        <p:spPr>
          <a:xfrm>
            <a:off x="1266825" y="3420516"/>
            <a:ext cx="20002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End-to-End Latency</a:t>
            </a:r>
            <a:endParaRPr/>
          </a:p>
        </p:txBody>
      </p:sp>
      <p:sp>
        <p:nvSpPr>
          <p:cNvPr id="342" name="Google Shape;342;p23"/>
          <p:cNvSpPr txBox="1"/>
          <p:nvPr/>
        </p:nvSpPr>
        <p:spPr>
          <a:xfrm>
            <a:off x="4638675" y="2325141"/>
            <a:ext cx="2466975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00E5FF"/>
                </a:solidFill>
                <a:latin typeface="Arimo"/>
                <a:ea typeface="Arimo"/>
                <a:cs typeface="Arimo"/>
                <a:sym typeface="Arimo"/>
              </a:rPr>
              <a:t>&lt;5ms</a:t>
            </a:r>
            <a:endParaRPr/>
          </a:p>
        </p:txBody>
      </p:sp>
      <p:sp>
        <p:nvSpPr>
          <p:cNvPr id="343" name="Google Shape;343;p23"/>
          <p:cNvSpPr txBox="1"/>
          <p:nvPr/>
        </p:nvSpPr>
        <p:spPr>
          <a:xfrm>
            <a:off x="4638675" y="3420516"/>
            <a:ext cx="24669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Redis Geo-Query</a:t>
            </a:r>
            <a:endParaRPr/>
          </a:p>
        </p:txBody>
      </p:sp>
      <p:sp>
        <p:nvSpPr>
          <p:cNvPr id="344" name="Google Shape;344;p23"/>
          <p:cNvSpPr txBox="1"/>
          <p:nvPr/>
        </p:nvSpPr>
        <p:spPr>
          <a:xfrm>
            <a:off x="8477250" y="2325141"/>
            <a:ext cx="2447925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00E5FF"/>
                </a:solidFill>
                <a:latin typeface="Arimo"/>
                <a:ea typeface="Arimo"/>
                <a:cs typeface="Arimo"/>
                <a:sym typeface="Arimo"/>
              </a:rPr>
              <a:t>100%</a:t>
            </a:r>
            <a:endParaRPr/>
          </a:p>
        </p:txBody>
      </p:sp>
      <p:sp>
        <p:nvSpPr>
          <p:cNvPr id="345" name="Google Shape;345;p23"/>
          <p:cNvSpPr txBox="1"/>
          <p:nvPr/>
        </p:nvSpPr>
        <p:spPr>
          <a:xfrm>
            <a:off x="8477250" y="3420516"/>
            <a:ext cx="24479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Real-time Sync</a:t>
            </a:r>
            <a:endParaRPr/>
          </a:p>
        </p:txBody>
      </p:sp>
      <p:pic>
        <p:nvPicPr>
          <p:cNvPr id="346" name="Google Shape;346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1037" y="4201566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1262" y="422197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1036" y="4929116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1261" y="4929116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268116"/>
            <a:ext cx="5324475" cy="1763762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24"/>
          <p:cNvSpPr txBox="1"/>
          <p:nvPr/>
        </p:nvSpPr>
        <p:spPr>
          <a:xfrm>
            <a:off x="305276" y="1826121"/>
            <a:ext cx="11581447" cy="695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>
                <a:solidFill>
                  <a:srgbClr val="FFFFFF"/>
                </a:solidFill>
                <a:latin typeface="+mj-lt"/>
                <a:ea typeface="Montserrat"/>
                <a:cs typeface="Montserrat"/>
                <a:sym typeface="Montserrat"/>
              </a:rPr>
              <a:t>SMART PARKING</a:t>
            </a:r>
            <a:endParaRPr dirty="0">
              <a:latin typeface="+mj-lt"/>
            </a:endParaRPr>
          </a:p>
        </p:txBody>
      </p:sp>
      <p:sp>
        <p:nvSpPr>
          <p:cNvPr id="357" name="Google Shape;357;p24"/>
          <p:cNvSpPr txBox="1"/>
          <p:nvPr/>
        </p:nvSpPr>
        <p:spPr>
          <a:xfrm>
            <a:off x="581025" y="2521446"/>
            <a:ext cx="110299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E5FF"/>
                </a:solidFill>
                <a:latin typeface="Arimo"/>
                <a:ea typeface="Arimo"/>
                <a:cs typeface="Arimo"/>
                <a:sym typeface="Arimo"/>
              </a:rPr>
              <a:t>Συμπεράσματα &amp; Μελλοντικά Βήματα</a:t>
            </a:r>
            <a:endParaRPr/>
          </a:p>
        </p:txBody>
      </p:sp>
      <p:sp>
        <p:nvSpPr>
          <p:cNvPr id="358" name="Google Shape;358;p24"/>
          <p:cNvSpPr txBox="1"/>
          <p:nvPr/>
        </p:nvSpPr>
        <p:spPr>
          <a:xfrm>
            <a:off x="2159689" y="3563391"/>
            <a:ext cx="2167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ΜΕΛΛΟΝΤΙΚ</a:t>
            </a:r>
            <a:r>
              <a:rPr lang="en-US" sz="135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Α</a:t>
            </a:r>
            <a:r>
              <a:rPr lang="en-US" sz="135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Β</a:t>
            </a:r>
            <a:r>
              <a:rPr lang="en-US" sz="135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Η</a:t>
            </a:r>
            <a:r>
              <a:rPr lang="en-US" sz="135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ΜΑΤΑ</a:t>
            </a:r>
            <a:endParaRPr/>
          </a:p>
        </p:txBody>
      </p:sp>
      <p:sp>
        <p:nvSpPr>
          <p:cNvPr id="359" name="Google Shape;359;p24"/>
          <p:cNvSpPr txBox="1"/>
          <p:nvPr/>
        </p:nvSpPr>
        <p:spPr>
          <a:xfrm>
            <a:off x="6286500" y="3544192"/>
            <a:ext cx="532447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Ευχαριστούμε για την προσοχή σας!</a:t>
            </a:r>
            <a:endParaRPr/>
          </a:p>
        </p:txBody>
      </p:sp>
      <p:sp>
        <p:nvSpPr>
          <p:cNvPr id="360" name="Google Shape;360;p24"/>
          <p:cNvSpPr txBox="1"/>
          <p:nvPr/>
        </p:nvSpPr>
        <p:spPr>
          <a:xfrm>
            <a:off x="6286500" y="4024163"/>
            <a:ext cx="53244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Ερωτήσεις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;</a:t>
            </a:r>
            <a:endParaRPr dirty="0"/>
          </a:p>
        </p:txBody>
      </p:sp>
      <p:sp>
        <p:nvSpPr>
          <p:cNvPr id="361" name="Google Shape;361;p24"/>
          <p:cNvSpPr txBox="1"/>
          <p:nvPr/>
        </p:nvSpPr>
        <p:spPr>
          <a:xfrm>
            <a:off x="2119312" y="3868191"/>
            <a:ext cx="22479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• Mobile App (React Native)</a:t>
            </a:r>
            <a:endParaRPr/>
          </a:p>
        </p:txBody>
      </p:sp>
      <p:sp>
        <p:nvSpPr>
          <p:cNvPr id="362" name="Google Shape;362;p24"/>
          <p:cNvSpPr txBox="1"/>
          <p:nvPr/>
        </p:nvSpPr>
        <p:spPr>
          <a:xfrm>
            <a:off x="2119312" y="4157662"/>
            <a:ext cx="22479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• Ενσωμάτωση Πληρωμών</a:t>
            </a:r>
            <a:endParaRPr/>
          </a:p>
        </p:txBody>
      </p:sp>
      <p:sp>
        <p:nvSpPr>
          <p:cNvPr id="363" name="Google Shape;363;p24"/>
          <p:cNvSpPr txBox="1"/>
          <p:nvPr/>
        </p:nvSpPr>
        <p:spPr>
          <a:xfrm>
            <a:off x="2119312" y="4447133"/>
            <a:ext cx="22479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• Προγνωστικά Μοντέλα AI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862</Words>
  <Application>Microsoft Macintosh PowerPoint</Application>
  <PresentationFormat>Widescreen</PresentationFormat>
  <Paragraphs>139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Arimo</vt:lpstr>
      <vt:lpstr>Montserrat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Konstantinos Ntavarinos</cp:lastModifiedBy>
  <cp:revision>1</cp:revision>
  <dcterms:modified xsi:type="dcterms:W3CDTF">2026-05-10T15:01:27Z</dcterms:modified>
</cp:coreProperties>
</file>